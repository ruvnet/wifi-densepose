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charts/chart1.xml" ContentType="application/vnd.openxmlformats-officedocument.drawingml.chart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notesMasterIdLst>
    <p:notesMasterId r:id="rId19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notesMaster" Target="notesMasters/notesMaster1.xml"/><Relationship Id="rId20" Type="http://schemas.openxmlformats.org/officeDocument/2006/relationships/presProps" Target="presProps.xml"/><Relationship Id="rId21" Type="http://schemas.openxmlformats.org/officeDocument/2006/relationships/viewProps" Target="viewProps.xml"/><Relationship Id="rId22" Type="http://schemas.openxmlformats.org/officeDocument/2006/relationships/theme" Target="theme/theme1.xml"/><Relationship Id="rId23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AP</c:v>
                </c:pt>
              </c:strCache>
            </c:strRef>
          </c:tx>
          <c:spPr>
            <a:solidFill>
              <a:srgbClr val="22D3EE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1" i="0" strike="noStrike" sz="1200" u="none">
                    <a:solidFill>
                      <a:srgbClr val="1E293B"/>
                    </a:solidFill>
                    <a:latin typeface="Consolas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22D3EE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3B82F6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F59E0B"/>
              </a:solidFill>
              <a:effectLst/>
            </c:spPr>
          </c:dPt>
          <c:cat>
            <c:multiLvlStrRef>
              <c:f>Sheet1!$A$2:$A$4</c:f>
              <c:multiLvlStrCache>
                <c:ptCount val="3"/>
                <c:lvl>
                  <c:pt idx="0">
                    <c:v>WiFi 同佈局</c:v>
                  </c:pt>
                  <c:pt idx="1">
                    <c:v>相機 同佈局</c:v>
                  </c:pt>
                  <c:pt idx="2">
                    <c:v>WiFi 跨佈局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87.2</c:v>
                </c:pt>
                <c:pt idx="1">
                  <c:v>94.4</c:v>
                </c:pt>
                <c:pt idx="2">
                  <c:v>27.3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1" i="0" strike="noStrike" sz="1200" u="none">
                  <a:solidFill>
                    <a:srgbClr val="1E293B"/>
                  </a:solidFill>
                  <a:latin typeface="Consolas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64748B"/>
                </a:solidFill>
                <a:latin typeface="Microsoft JhengHe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00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開場:大家好,今天報告 RuView——用 WiFi 訊號看見人。不需攝影機、不需穿戴、能穿牆。靠的是 WiFi 電波加上物理。整套系統把每天都在身邊的 WiFi,變成空間感知能力。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問題:在隱私前提下持續感測室內的人。現有方案各有硬傷——攝影機怕黑、不能穿牆、貴、有隱私問題;穿戴要戴要充電;PIR 只知有沒有動。我們的切入點:WiFi 無所不在,人一動就擾動電波,一台約 $50 的 Raspberry Pi 4 加 nexmon_csi 讀 CSI 即可。三大價值:無影像規避法規、能穿牆全黑、成本遠低於攝影機。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一句話:普通 WiFi 變成非接觸感測器。五大能力:存在與人數、呼吸心率、姿態與跌倒、室內地圖、睡眠品質。重點:全部在邊緣運算,不需雲端攝影機,斷網也能跑,還能接 Apple、Google Home。系統有兩套碼:Python 原型,加上作為主力、Rust 重寫、快約八百倍的 v2。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我們的實作裝置是一台 Raspberry Pi 4。它內建的 Broadcom BCM43455c0 WiFi 晶片,透過 nexmon_csi 韌體修補,可在 monitor mode 下直接擷取逐子載波的複數 CSI,而且是 802.11ac、最高 80 MHz、最多 256 個子載波,比 ESP32 的 64 個多很多。最重要的是:CSI 擷取跟模型推論都在同一台 Pi 上完成——nexmon 擷取、rvCSI 正規化、訊號處理、Candle 本地推論,整條管線單機跑完,不需額外感測節點或外部伺服器。單台 Pi 4 約三十五到五十五美金。平台本身也相容 ESP32-S3、Intel 5300、Atheros 等 CSI 來源,並可擴展為多基地台 mesh,但本次我們用單台 Pi 4 驗證核心管線。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十五個 Rust 模組分三層:基礎層是核心型別、CSI 影格、硬體溝通;中間是訊號與 AI 層,含 SOTA 訊號處理、十四個感測模組、神經網路、RuVector 骨幹跟訓練;最上是應用。技術棧:Rust 加 Python、Candle 推論、RVF 簽章模型、Axum、MQTT/Matter 加隱私模式。Rust 讓記憶體只用一百 MB、Docker 一百三十二 MB。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關鍵在 CSI。WiFi 用 OFDM 拆成數十個子載波,CSI 記錄每個子載波的振幅衰減跟相位偏移,是複數值;相比 RSSI 只有一個數字,資訊量大好幾個數量級。人會擾動它,是因為身體是反射吸收體,改變多徑。呼吸胸腔起伏一到五毫米;心跳只動零點幾毫米,所以更難。挑戰:便宜晶片原始相位有硬體誤差,每包都不同,要先清理。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核心流程:WiFi 電波經人體散射,由 Pi 4 用 nexmon 擷取 CSI;rvCSI 正規化後,經品質相干閘把關,再進六個 SOTA 演算法做訊號處理,最後 Candle 本地推論輸出。六個演算法各對應經典論文:共軛相乘消硬體誤差來自 SpotFi、Hampel 去離群、Fresnel 預測呼吸來自 FarSense、頻譜圖、子載波選擇提升六到十 dB、身體速度分布跟房間無關來自 Widar 3.0。整條管線都在這一台樹莓派上即時跑完。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三個來源。公開資料集做初始訓練:MM-Fi 是 NeurIPS 2023 最大的 WiFi CSI 加姿態資料集,四十人、二十七動作、約三十二萬幀、多模態;Wi-Pose 的三乘三天線剛好對上我們硬體。自建是最有特色的:收資料時用 webcam 透過 MediaPipe 偵測關鍵點當正確答案教 WiFi,兩百毫秒對齊,相機只訓練不部署,影像不存檔只留座標。自監督:整夜採集六萬樣本、衍生六十一萬三元組。前處理做正規化、子載波內插到五十六。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核心模型 AETHER 是對比式 CSI 編碼器:輸入五十六維 CSI 後經共享骨幹——Transformer、交叉注意力、圖神經網路——再分兩個頭,在同一次前向同時輸出:姿態頭給十七個關鍵點,嵌入頭給一百二十八維指紋。只有五萬五千參數,八位元才五十五 KB。姿態 WiFlow 一百八十萬參數,四位元才八百八十一 KB。設計理由:一百二十八維是 CLIP 標準、共享骨幹省時、源自 CMU DensePose From WiFi。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三種訓練模式:自監督對比學習先學 CSI 結構;監督式微調得到完整姿態;跨模態讓指紋跟視覺對齊。技巧:hard-negative mining 加課程學習。速度很快:RTX 5080 跑四百 epoch 兩點一秒、M4 從零八十四秒、換房間不到三十秒。量化:全精度四十八 KB,四位元只有八 KB,適合邊緣部署、載入更快。換環境只訓一千七百九十二參數的 LoRA、省九成三,加 EWC 防遺忘。預訓練一千兩百二十萬步已上 Hugging Face。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我們有好幾個線上就能互動的 Demo:Observatory 即時看到 WiFi 還原的人體骨架;雙模態融合左邊攝影機右邊 WiFi 推論可對照;即時 3D 點雲;還有五個 three.js 場景。想自己試完全不用硬體,一行 Docker 三十秒上手。接上感測硬體(如 Pi 4)就能現場演示:即時骨架、呼吸心率、房間掃描、跌倒、穿牆。等一下播放錄屏。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這頁全部是已驗證的數字:存在偵測百分之百、計數二十四個全對、每秒十六萬四千個嵌入、Rust 快八百一十倍、模型八 KB、一千四百六十三個測試全過。語意層級浴室占用 F1 零點九八。這裡誠實交代:十七關鍵點姿態目前 PCK@20 只有百分之三,離百分之三十五目標還有差距,但原因是資料量不夠、只有一千零七十七個樣本,不是架構問題。早期文件出現過百分之九十二點九,後來團隊自己稽核發現是誇大、主動更正,我用真實數字報告。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先跟攝影機比:成本約五十美金(Pi 4)vs 兩百到兩千、無影像規避法規、能穿牆全黑、多人。學術指標上,我們架構家族來自 CMU 的 DensePose From WiFi:同一房間佈局下 WiFi 的 AP@50 可到八十七點二,逼近相機的九十四點四;但換到沒看過的佈局掉到二十七點三,這點出跨環境泛化的難題,正是我們 MERIDIAN 方向在解。Rust 快八百一十倍、Pi 5 推論八點四毫秒。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總結:證明只用一台 Raspberry Pi 4,就能做非接觸、能穿牆、又保護隱私的人體感測,而且擷取跟推論都在這台 Pi 上完成,是完整的端到端系統。已驗證成果:存在百分之百、每秒十六萬嵌入、八 KB 模型、一千四百六十三測試全過。工程上有可重現驗證跟見證鏈,誠實區分實測跟目標。未來:補資料把姿態三趴拉到三十五趴、MERIDIAN 解跨環境泛化、優化樹莓派端推論。一句話:讓空間感知變成一台樹莓派、隱私優先、隨處部署。謝謝大家。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推論源碼:主程式碼在 GitHub ruvnet/RuView;套件發布在 PyPI、crates.io、npm、Docker Hub 都能直接安裝;預訓練模型在 Hugging Face;測試資料集有自帶的確定性 proof,跟外部公開的 MM-Fi、Wi-Pose;邊緣 runtime 是 rvCSI。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文檔很完整:使用面有 User Guide、Build Guide、故障排除、災難搜救指南;架構面有九十六份 ADR、八個 DDD 模型;還有線上 Demo、Home Assistant 加 Matter 整合、Cognitum Seed、Docker Hub。連結都在投影片上。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相關論文分三類。核心:CMU 的 DensePose From WiFi、MM-Fi、Person-in-WiFi 3D。訊號處理對應 SpotFi、FarSense、Widar 3.0。學習方法對應 SimCLR、VICReg、LoRA、EWC、HNSW,都是各領域代表作。報告到此結束,謝謝各位,進入提問時間。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image" Target="../media/image-2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image" Target="../media/image-14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image" Target="../media/image-15-2.png"/><Relationship Id="rId3" Type="http://schemas.openxmlformats.org/officeDocument/2006/relationships/image" Target="../media/image-15-3.png"/><Relationship Id="rId4" Type="http://schemas.openxmlformats.org/officeDocument/2006/relationships/image" Target="../media/image-15-4.png"/><Relationship Id="rId5" Type="http://schemas.openxmlformats.org/officeDocument/2006/relationships/image" Target="../media/image-15-5.png"/><Relationship Id="rId6" Type="http://schemas.openxmlformats.org/officeDocument/2006/relationships/image" Target="../media/image-15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image" Target="../media/image-16-2.png"/><Relationship Id="rId3" Type="http://schemas.openxmlformats.org/officeDocument/2006/relationships/image" Target="../media/image-16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1A2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A2F"/>
          </a:solidFill>
          <a:ln/>
        </p:spPr>
      </p:sp>
      <p:sp>
        <p:nvSpPr>
          <p:cNvPr id="3" name="Shape 1"/>
          <p:cNvSpPr/>
          <p:nvPr/>
        </p:nvSpPr>
        <p:spPr>
          <a:xfrm>
            <a:off x="7589520" y="-2011680"/>
            <a:ext cx="6217920" cy="6217920"/>
          </a:xfrm>
          <a:prstGeom prst="ellipse">
            <a:avLst/>
          </a:prstGeom>
          <a:solidFill>
            <a:srgbClr val="0A1A2F">
              <a:alpha val="0"/>
            </a:srgbClr>
          </a:solidFill>
          <a:ln w="15875">
            <a:solidFill>
              <a:srgbClr val="22D3EE">
                <a:alpha val="65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503920" y="-1097280"/>
            <a:ext cx="4389120" cy="4389120"/>
          </a:xfrm>
          <a:prstGeom prst="ellipse">
            <a:avLst/>
          </a:prstGeom>
          <a:solidFill>
            <a:srgbClr val="0A1A2F">
              <a:alpha val="0"/>
            </a:srgbClr>
          </a:solidFill>
          <a:ln w="15875">
            <a:solidFill>
              <a:srgbClr val="22D3EE">
                <a:alpha val="53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326880" y="-274320"/>
            <a:ext cx="2743200" cy="2743200"/>
          </a:xfrm>
          <a:prstGeom prst="ellipse">
            <a:avLst/>
          </a:prstGeom>
          <a:solidFill>
            <a:srgbClr val="0A1A2F">
              <a:alpha val="0"/>
            </a:srgbClr>
          </a:solidFill>
          <a:ln w="15875">
            <a:solidFill>
              <a:srgbClr val="22D3EE">
                <a:alpha val="41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0058400" y="457200"/>
            <a:ext cx="1280160" cy="1280160"/>
          </a:xfrm>
          <a:prstGeom prst="ellipse">
            <a:avLst/>
          </a:prstGeom>
          <a:solidFill>
            <a:srgbClr val="0A1A2F">
              <a:alpha val="0"/>
            </a:srgbClr>
          </a:solidFill>
          <a:ln w="15875">
            <a:solidFill>
              <a:srgbClr val="22D3EE">
                <a:alpha val="29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0616184" y="1014984"/>
            <a:ext cx="164592" cy="164592"/>
          </a:xfrm>
          <a:prstGeom prst="ellipse">
            <a:avLst/>
          </a:prstGeom>
          <a:solidFill>
            <a:srgbClr val="22D3EE"/>
          </a:solidFill>
          <a:ln/>
        </p:spPr>
      </p:sp>
      <p:sp>
        <p:nvSpPr>
          <p:cNvPr id="8" name="Shape 6"/>
          <p:cNvSpPr/>
          <p:nvPr/>
        </p:nvSpPr>
        <p:spPr>
          <a:xfrm>
            <a:off x="-2743200" y="3566160"/>
            <a:ext cx="6217920" cy="6217920"/>
          </a:xfrm>
          <a:prstGeom prst="ellipse">
            <a:avLst/>
          </a:prstGeom>
          <a:solidFill>
            <a:srgbClr val="0A1A2F">
              <a:alpha val="0"/>
            </a:srgbClr>
          </a:solidFill>
          <a:ln w="15875">
            <a:solidFill>
              <a:srgbClr val="22D3EE">
                <a:alpha val="65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-1828800" y="4480560"/>
            <a:ext cx="4389120" cy="4389120"/>
          </a:xfrm>
          <a:prstGeom prst="ellipse">
            <a:avLst/>
          </a:prstGeom>
          <a:solidFill>
            <a:srgbClr val="0A1A2F">
              <a:alpha val="0"/>
            </a:srgbClr>
          </a:solidFill>
          <a:ln w="15875">
            <a:solidFill>
              <a:srgbClr val="22D3EE">
                <a:alpha val="53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-1005840" y="5303520"/>
            <a:ext cx="2743200" cy="2743200"/>
          </a:xfrm>
          <a:prstGeom prst="ellipse">
            <a:avLst/>
          </a:prstGeom>
          <a:solidFill>
            <a:srgbClr val="0A1A2F">
              <a:alpha val="0"/>
            </a:srgbClr>
          </a:solidFill>
          <a:ln w="15875">
            <a:solidFill>
              <a:srgbClr val="22D3EE">
                <a:alpha val="41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-274320" y="6035040"/>
            <a:ext cx="1280160" cy="1280160"/>
          </a:xfrm>
          <a:prstGeom prst="ellipse">
            <a:avLst/>
          </a:prstGeom>
          <a:solidFill>
            <a:srgbClr val="0A1A2F">
              <a:alpha val="0"/>
            </a:srgbClr>
          </a:solidFill>
          <a:ln w="15875">
            <a:solidFill>
              <a:srgbClr val="22D3EE">
                <a:alpha val="29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83464" y="6592824"/>
            <a:ext cx="164592" cy="164592"/>
          </a:xfrm>
          <a:prstGeom prst="ellipse">
            <a:avLst/>
          </a:prstGeom>
          <a:solidFill>
            <a:srgbClr val="22D3EE"/>
          </a:solidFill>
          <a:ln/>
        </p:spPr>
      </p:sp>
      <p:sp>
        <p:nvSpPr>
          <p:cNvPr id="13" name="Shape 11"/>
          <p:cNvSpPr/>
          <p:nvPr/>
        </p:nvSpPr>
        <p:spPr>
          <a:xfrm>
            <a:off x="7360920" y="1371600"/>
            <a:ext cx="4297680" cy="4114800"/>
          </a:xfrm>
          <a:prstGeom prst="roundRect">
            <a:avLst>
              <a:gd name="adj" fmla="val 2222"/>
            </a:avLst>
          </a:prstGeom>
          <a:solidFill>
            <a:srgbClr val="112A45"/>
          </a:solidFill>
          <a:ln w="15875">
            <a:solidFill>
              <a:srgbClr val="22D3EE"/>
            </a:solidFill>
            <a:prstDash val="solid"/>
          </a:ln>
          <a:effectLst>
            <a:outerShdw sx="100000" sy="100000" kx="0" ky="0" algn="bl" rotWithShape="0" blurRad="88900" dist="38100" dir="8100000">
              <a:srgbClr val="0A1A2F">
                <a:alpha val="16000"/>
              </a:srgbClr>
            </a:outerShdw>
          </a:effectLst>
        </p:spPr>
      </p:sp>
      <p:pic>
        <p:nvPicPr>
          <p:cNvPr id="14" name="Image 0" descr="D:/RuView/assets/v2-screen.png">    </p:cNvPr>
          <p:cNvPicPr>
            <a:picLocks noChangeAspect="1"/>
          </p:cNvPicPr>
          <p:nvPr/>
        </p:nvPicPr>
        <p:blipFill>
          <a:blip r:embed="rId1"/>
          <a:srcRect l="-53" r="-53" t="0" b="0"/>
          <a:stretch/>
        </p:blipFill>
        <p:spPr>
          <a:xfrm>
            <a:off x="7498080" y="1499616"/>
            <a:ext cx="4023360" cy="3328416"/>
          </a:xfrm>
          <a:prstGeom prst="rect">
            <a:avLst/>
          </a:prstGeom>
        </p:spPr>
      </p:pic>
      <p:sp>
        <p:nvSpPr>
          <p:cNvPr id="15" name="Text 12"/>
          <p:cNvSpPr/>
          <p:nvPr/>
        </p:nvSpPr>
        <p:spPr>
          <a:xfrm>
            <a:off x="7360920" y="5138928"/>
            <a:ext cx="4297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22D3E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即時 WiFi CSI 姿態骨架</a:t>
            </a:r>
            <a:endParaRPr lang="en-US" sz="1050" dirty="0"/>
          </a:p>
        </p:txBody>
      </p:sp>
      <p:pic>
        <p:nvPicPr>
          <p:cNvPr id="1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417320"/>
            <a:ext cx="566928" cy="566928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548640" y="2057400"/>
            <a:ext cx="65836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RuView</a:t>
            </a:r>
            <a:endParaRPr lang="en-US" sz="6000" dirty="0"/>
          </a:p>
        </p:txBody>
      </p:sp>
      <p:sp>
        <p:nvSpPr>
          <p:cNvPr id="18" name="Text 14"/>
          <p:cNvSpPr/>
          <p:nvPr/>
        </p:nvSpPr>
        <p:spPr>
          <a:xfrm>
            <a:off x="566928" y="3127248"/>
            <a:ext cx="6583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2D3E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用 WiFi 訊號看見人</a:t>
            </a:r>
            <a:endParaRPr lang="en-US" sz="3000" dirty="0"/>
          </a:p>
        </p:txBody>
      </p:sp>
      <p:sp>
        <p:nvSpPr>
          <p:cNvPr id="19" name="Text 15"/>
          <p:cNvSpPr/>
          <p:nvPr/>
        </p:nvSpPr>
        <p:spPr>
          <a:xfrm>
            <a:off x="566928" y="3822192"/>
            <a:ext cx="6583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ADCF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WiFi-DensePose:基於通道狀態資訊 (CSI) 的人體感測系統</a:t>
            </a:r>
            <a:endParaRPr lang="en-US" sz="1500" dirty="0"/>
          </a:p>
        </p:txBody>
      </p:sp>
      <p:sp>
        <p:nvSpPr>
          <p:cNvPr id="20" name="Text 16"/>
          <p:cNvSpPr/>
          <p:nvPr/>
        </p:nvSpPr>
        <p:spPr>
          <a:xfrm>
            <a:off x="566928" y="4572000"/>
            <a:ext cx="6583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無攝影機</a:t>
            </a:r>
            <a:pPr indent="0" marL="0">
              <a:buNone/>
            </a:pPr>
            <a:r>
              <a:rPr lang="en-US" sz="1400" b="1" dirty="0">
                <a:solidFill>
                  <a:srgbClr val="0EA5B5"/>
                </a:solidFill>
              </a:rPr>
              <a:t>  ·  </a:t>
            </a:r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無穿戴裝置</a:t>
            </a:r>
            <a:pPr indent="0" marL="0">
              <a:buNone/>
            </a:pPr>
            <a:r>
              <a:rPr lang="en-US" sz="1400" b="1" dirty="0">
                <a:solidFill>
                  <a:srgbClr val="0EA5B5"/>
                </a:solidFill>
              </a:rPr>
              <a:t>  ·  </a:t>
            </a:r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可穿牆</a:t>
            </a:r>
            <a:pPr indent="0" marL="0">
              <a:buNone/>
            </a:pPr>
            <a:r>
              <a:rPr lang="en-US" sz="1400" b="1" dirty="0">
                <a:solidFill>
                  <a:srgbClr val="0EA5B5"/>
                </a:solidFill>
              </a:rPr>
              <a:t>  ·  </a:t>
            </a:r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隱私友善</a:t>
            </a:r>
            <a:endParaRPr lang="en-US" sz="1400" dirty="0"/>
          </a:p>
        </p:txBody>
      </p:sp>
      <p:sp>
        <p:nvSpPr>
          <p:cNvPr id="21" name="Text 17"/>
          <p:cNvSpPr/>
          <p:nvPr/>
        </p:nvSpPr>
        <p:spPr>
          <a:xfrm>
            <a:off x="566928" y="562356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專題報告  ·  2026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20624"/>
            <a:ext cx="841248" cy="841248"/>
          </a:xfrm>
          <a:prstGeom prst="roundRect">
            <a:avLst>
              <a:gd name="adj" fmla="val 13043"/>
            </a:avLst>
          </a:prstGeom>
          <a:solidFill>
            <a:srgbClr val="22D3EE"/>
          </a:solidFill>
          <a:ln/>
          <a:effectLst>
            <a:outerShdw sx="100000" sy="100000" kx="0" ky="0" algn="bl" rotWithShape="0" blurRad="88900" dist="38100" dir="8100000">
              <a:srgbClr val="0A1A2F">
                <a:alpha val="16000"/>
              </a:srgbClr>
            </a:outerShdw>
          </a:effectLst>
        </p:spPr>
      </p:sp>
      <p:sp>
        <p:nvSpPr>
          <p:cNvPr id="3" name="Text 1"/>
          <p:cNvSpPr/>
          <p:nvPr/>
        </p:nvSpPr>
        <p:spPr>
          <a:xfrm>
            <a:off x="548640" y="420624"/>
            <a:ext cx="841248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A1A2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572768" y="402336"/>
            <a:ext cx="9997135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A1A2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研究動機:為什麼用 WiFi 感測人體?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1591056" y="987552"/>
            <a:ext cx="9997135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0EA5B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如何在不侵犯隱私下,持續、可靠地感測室內的人?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548640" y="1481328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6474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現有方案都有硬傷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548640" y="1938528"/>
            <a:ext cx="5257800" cy="1225296"/>
          </a:xfrm>
          <a:prstGeom prst="roundRect">
            <a:avLst>
              <a:gd name="adj" fmla="val 597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38100" dir="8100000">
              <a:srgbClr val="0A1A2F">
                <a:alpha val="16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768096" y="2249424"/>
            <a:ext cx="603504" cy="603504"/>
          </a:xfrm>
          <a:prstGeom prst="ellipse">
            <a:avLst/>
          </a:prstGeom>
          <a:solidFill>
            <a:srgbClr val="EF4444"/>
          </a:solidFill>
          <a:ln/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25007" y="2406335"/>
            <a:ext cx="289682" cy="289682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1572768" y="2103120"/>
            <a:ext cx="4023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A1A2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攝影機</a:t>
            </a:r>
            <a:endParaRPr lang="en-US" sz="1700" dirty="0"/>
          </a:p>
        </p:txBody>
      </p:sp>
      <p:sp>
        <p:nvSpPr>
          <p:cNvPr id="11" name="Text 8"/>
          <p:cNvSpPr/>
          <p:nvPr/>
        </p:nvSpPr>
        <p:spPr>
          <a:xfrm>
            <a:off x="1572768" y="2505456"/>
            <a:ext cx="4114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E293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隱私疑慮、怕黑、不能穿牆,每點 $200–$2000</a:t>
            </a:r>
            <a:endParaRPr lang="en-US" sz="1250" dirty="0"/>
          </a:p>
        </p:txBody>
      </p:sp>
      <p:sp>
        <p:nvSpPr>
          <p:cNvPr id="12" name="Shape 9"/>
          <p:cNvSpPr/>
          <p:nvPr/>
        </p:nvSpPr>
        <p:spPr>
          <a:xfrm>
            <a:off x="548640" y="3328416"/>
            <a:ext cx="5257800" cy="1225296"/>
          </a:xfrm>
          <a:prstGeom prst="roundRect">
            <a:avLst>
              <a:gd name="adj" fmla="val 597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38100" dir="8100000">
              <a:srgbClr val="0A1A2F">
                <a:alpha val="16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768096" y="3639312"/>
            <a:ext cx="603504" cy="603504"/>
          </a:xfrm>
          <a:prstGeom prst="ellipse">
            <a:avLst/>
          </a:prstGeom>
          <a:solidFill>
            <a:srgbClr val="F59E0B"/>
          </a:solidFill>
          <a:ln/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5007" y="3796223"/>
            <a:ext cx="289682" cy="289682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1572768" y="3493008"/>
            <a:ext cx="4023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A1A2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穿戴裝置</a:t>
            </a:r>
            <a:endParaRPr lang="en-US" sz="1700" dirty="0"/>
          </a:p>
        </p:txBody>
      </p:sp>
      <p:sp>
        <p:nvSpPr>
          <p:cNvPr id="16" name="Text 12"/>
          <p:cNvSpPr/>
          <p:nvPr/>
        </p:nvSpPr>
        <p:spPr>
          <a:xfrm>
            <a:off x="1572768" y="3895344"/>
            <a:ext cx="4114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E293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需配戴、要充電,長者/病患配合度低</a:t>
            </a:r>
            <a:endParaRPr lang="en-US" sz="1250" dirty="0"/>
          </a:p>
        </p:txBody>
      </p:sp>
      <p:sp>
        <p:nvSpPr>
          <p:cNvPr id="17" name="Shape 13"/>
          <p:cNvSpPr/>
          <p:nvPr/>
        </p:nvSpPr>
        <p:spPr>
          <a:xfrm>
            <a:off x="548640" y="4718304"/>
            <a:ext cx="5257800" cy="1225296"/>
          </a:xfrm>
          <a:prstGeom prst="roundRect">
            <a:avLst>
              <a:gd name="adj" fmla="val 597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38100" dir="8100000">
              <a:srgbClr val="0A1A2F">
                <a:alpha val="16000"/>
              </a:srgbClr>
            </a:outerShdw>
          </a:effectLst>
        </p:spPr>
      </p:sp>
      <p:sp>
        <p:nvSpPr>
          <p:cNvPr id="18" name="Shape 14"/>
          <p:cNvSpPr/>
          <p:nvPr/>
        </p:nvSpPr>
        <p:spPr>
          <a:xfrm>
            <a:off x="768096" y="5029200"/>
            <a:ext cx="603504" cy="603504"/>
          </a:xfrm>
          <a:prstGeom prst="ellipse">
            <a:avLst/>
          </a:prstGeom>
          <a:solidFill>
            <a:srgbClr val="8B5CF6"/>
          </a:solidFill>
          <a:ln/>
        </p:spPr>
      </p:sp>
      <p:pic>
        <p:nvPicPr>
          <p:cNvPr id="1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5007" y="5186111"/>
            <a:ext cx="289682" cy="289682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1572768" y="4882896"/>
            <a:ext cx="4023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A1A2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紅外 / PIR</a:t>
            </a:r>
            <a:endParaRPr lang="en-US" sz="1700" dirty="0"/>
          </a:p>
        </p:txBody>
      </p:sp>
      <p:sp>
        <p:nvSpPr>
          <p:cNvPr id="21" name="Text 16"/>
          <p:cNvSpPr/>
          <p:nvPr/>
        </p:nvSpPr>
        <p:spPr>
          <a:xfrm>
            <a:off x="1572768" y="5285232"/>
            <a:ext cx="4114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E293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只知「有沒有動」,測不到呼吸與姿態</a:t>
            </a:r>
            <a:endParaRPr lang="en-US" sz="1250" dirty="0"/>
          </a:p>
        </p:txBody>
      </p:sp>
      <p:sp>
        <p:nvSpPr>
          <p:cNvPr id="22" name="Shape 17"/>
          <p:cNvSpPr/>
          <p:nvPr/>
        </p:nvSpPr>
        <p:spPr>
          <a:xfrm>
            <a:off x="6172200" y="1481328"/>
            <a:ext cx="5470855" cy="1417320"/>
          </a:xfrm>
          <a:prstGeom prst="roundRect">
            <a:avLst>
              <a:gd name="adj" fmla="val 5161"/>
            </a:avLst>
          </a:prstGeom>
          <a:solidFill>
            <a:srgbClr val="0A1A2F"/>
          </a:solidFill>
          <a:ln/>
          <a:effectLst>
            <a:outerShdw sx="100000" sy="100000" kx="0" ky="0" algn="bl" rotWithShape="0" blurRad="88900" dist="38100" dir="8100000">
              <a:srgbClr val="0A1A2F">
                <a:alpha val="16000"/>
              </a:srgbClr>
            </a:outerShdw>
          </a:effectLst>
        </p:spPr>
      </p:sp>
      <p:sp>
        <p:nvSpPr>
          <p:cNvPr id="23" name="Shape 18"/>
          <p:cNvSpPr/>
          <p:nvPr/>
        </p:nvSpPr>
        <p:spPr>
          <a:xfrm>
            <a:off x="8001000" y="-1737360"/>
            <a:ext cx="6217920" cy="6217920"/>
          </a:xfrm>
          <a:prstGeom prst="ellipse">
            <a:avLst/>
          </a:prstGeom>
          <a:solidFill>
            <a:srgbClr val="0A1A2F">
              <a:alpha val="0"/>
            </a:srgbClr>
          </a:solidFill>
          <a:ln w="15875">
            <a:solidFill>
              <a:srgbClr val="22D3EE">
                <a:alpha val="65000"/>
              </a:srgbClr>
            </a:solidFill>
            <a:prstDash val="solid"/>
          </a:ln>
        </p:spPr>
      </p:sp>
      <p:sp>
        <p:nvSpPr>
          <p:cNvPr id="24" name="Shape 19"/>
          <p:cNvSpPr/>
          <p:nvPr/>
        </p:nvSpPr>
        <p:spPr>
          <a:xfrm>
            <a:off x="8915400" y="-822960"/>
            <a:ext cx="4389120" cy="4389120"/>
          </a:xfrm>
          <a:prstGeom prst="ellipse">
            <a:avLst/>
          </a:prstGeom>
          <a:solidFill>
            <a:srgbClr val="0A1A2F">
              <a:alpha val="0"/>
            </a:srgbClr>
          </a:solidFill>
          <a:ln w="15875">
            <a:solidFill>
              <a:srgbClr val="22D3EE">
                <a:alpha val="53000"/>
              </a:srgbClr>
            </a:solidFill>
            <a:prstDash val="solid"/>
          </a:ln>
        </p:spPr>
      </p:sp>
      <p:sp>
        <p:nvSpPr>
          <p:cNvPr id="25" name="Shape 20"/>
          <p:cNvSpPr/>
          <p:nvPr/>
        </p:nvSpPr>
        <p:spPr>
          <a:xfrm>
            <a:off x="9738360" y="0"/>
            <a:ext cx="2743200" cy="2743200"/>
          </a:xfrm>
          <a:prstGeom prst="ellipse">
            <a:avLst/>
          </a:prstGeom>
          <a:solidFill>
            <a:srgbClr val="0A1A2F">
              <a:alpha val="0"/>
            </a:srgbClr>
          </a:solidFill>
          <a:ln w="15875">
            <a:solidFill>
              <a:srgbClr val="22D3EE">
                <a:alpha val="41000"/>
              </a:srgbClr>
            </a:solidFill>
            <a:prstDash val="solid"/>
          </a:ln>
        </p:spPr>
      </p:sp>
      <p:sp>
        <p:nvSpPr>
          <p:cNvPr id="26" name="Shape 21"/>
          <p:cNvSpPr/>
          <p:nvPr/>
        </p:nvSpPr>
        <p:spPr>
          <a:xfrm>
            <a:off x="10469880" y="731520"/>
            <a:ext cx="1280160" cy="1280160"/>
          </a:xfrm>
          <a:prstGeom prst="ellipse">
            <a:avLst/>
          </a:prstGeom>
          <a:solidFill>
            <a:srgbClr val="0A1A2F">
              <a:alpha val="0"/>
            </a:srgbClr>
          </a:solidFill>
          <a:ln w="15875">
            <a:solidFill>
              <a:srgbClr val="22D3EE">
                <a:alpha val="29000"/>
              </a:srgbClr>
            </a:solidFill>
            <a:prstDash val="solid"/>
          </a:ln>
        </p:spPr>
      </p:sp>
      <p:sp>
        <p:nvSpPr>
          <p:cNvPr id="27" name="Shape 22"/>
          <p:cNvSpPr/>
          <p:nvPr/>
        </p:nvSpPr>
        <p:spPr>
          <a:xfrm>
            <a:off x="11027664" y="1289304"/>
            <a:ext cx="164592" cy="164592"/>
          </a:xfrm>
          <a:prstGeom prst="ellipse">
            <a:avLst/>
          </a:prstGeom>
          <a:solidFill>
            <a:srgbClr val="22D3EE"/>
          </a:solidFill>
          <a:ln/>
        </p:spPr>
      </p:sp>
      <p:sp>
        <p:nvSpPr>
          <p:cNvPr id="28" name="Text 23"/>
          <p:cNvSpPr/>
          <p:nvPr/>
        </p:nvSpPr>
        <p:spPr>
          <a:xfrm>
            <a:off x="6446520" y="1664208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2D3E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機會:WiFi 無所不在</a:t>
            </a:r>
            <a:endParaRPr lang="en-US" sz="1700" dirty="0"/>
          </a:p>
        </p:txBody>
      </p:sp>
      <p:sp>
        <p:nvSpPr>
          <p:cNvPr id="29" name="Text 24"/>
          <p:cNvSpPr/>
          <p:nvPr/>
        </p:nvSpPr>
        <p:spPr>
          <a:xfrm>
            <a:off x="6446520" y="2084832"/>
            <a:ext cx="4983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E2E8F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人移動、呼吸,甚至靜止,都會擾動電波。只要一台 Raspberry Pi 4 搭配 nexmon_csi 讀取 WiFi 的「通道狀態資訊 (CSI)」就能量測。</a:t>
            </a:r>
            <a:endParaRPr lang="en-US" sz="1350" dirty="0"/>
          </a:p>
        </p:txBody>
      </p:sp>
      <p:sp>
        <p:nvSpPr>
          <p:cNvPr id="30" name="Shape 25"/>
          <p:cNvSpPr/>
          <p:nvPr/>
        </p:nvSpPr>
        <p:spPr>
          <a:xfrm>
            <a:off x="6172200" y="3154680"/>
            <a:ext cx="5470855" cy="950976"/>
          </a:xfrm>
          <a:prstGeom prst="roundRect">
            <a:avLst>
              <a:gd name="adj" fmla="val 7692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1" name="Shape 26"/>
          <p:cNvSpPr/>
          <p:nvPr/>
        </p:nvSpPr>
        <p:spPr>
          <a:xfrm>
            <a:off x="6373368" y="3401568"/>
            <a:ext cx="457200" cy="457200"/>
          </a:xfrm>
          <a:prstGeom prst="ellipse">
            <a:avLst/>
          </a:prstGeom>
          <a:solidFill>
            <a:srgbClr val="0EA5B5"/>
          </a:solidFill>
          <a:ln/>
        </p:spPr>
      </p:sp>
      <p:pic>
        <p:nvPicPr>
          <p:cNvPr id="3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92240" y="3520440"/>
            <a:ext cx="219456" cy="219456"/>
          </a:xfrm>
          <a:prstGeom prst="rect">
            <a:avLst/>
          </a:prstGeom>
        </p:spPr>
      </p:pic>
      <p:sp>
        <p:nvSpPr>
          <p:cNvPr id="33" name="Text 27"/>
          <p:cNvSpPr/>
          <p:nvPr/>
        </p:nvSpPr>
        <p:spPr>
          <a:xfrm>
            <a:off x="7013448" y="3264408"/>
            <a:ext cx="1463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EA5B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無影像</a:t>
            </a:r>
            <a:endParaRPr lang="en-US" sz="1600" dirty="0"/>
          </a:p>
        </p:txBody>
      </p:sp>
      <p:sp>
        <p:nvSpPr>
          <p:cNvPr id="34" name="Text 28"/>
          <p:cNvSpPr/>
          <p:nvPr/>
        </p:nvSpPr>
        <p:spPr>
          <a:xfrm>
            <a:off x="8458200" y="3264408"/>
            <a:ext cx="2926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E293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天生規避 GDPR / HIPAA 影像隱私法規</a:t>
            </a:r>
            <a:endParaRPr lang="en-US" sz="1250" dirty="0"/>
          </a:p>
        </p:txBody>
      </p:sp>
      <p:sp>
        <p:nvSpPr>
          <p:cNvPr id="35" name="Shape 29"/>
          <p:cNvSpPr/>
          <p:nvPr/>
        </p:nvSpPr>
        <p:spPr>
          <a:xfrm>
            <a:off x="6172200" y="4215384"/>
            <a:ext cx="5470855" cy="950976"/>
          </a:xfrm>
          <a:prstGeom prst="roundRect">
            <a:avLst>
              <a:gd name="adj" fmla="val 7692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6" name="Shape 30"/>
          <p:cNvSpPr/>
          <p:nvPr/>
        </p:nvSpPr>
        <p:spPr>
          <a:xfrm>
            <a:off x="6373368" y="4462272"/>
            <a:ext cx="457200" cy="457200"/>
          </a:xfrm>
          <a:prstGeom prst="ellipse">
            <a:avLst/>
          </a:prstGeom>
          <a:solidFill>
            <a:srgbClr val="0EA5B5"/>
          </a:solidFill>
          <a:ln/>
        </p:spPr>
      </p:sp>
      <p:pic>
        <p:nvPicPr>
          <p:cNvPr id="37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92240" y="4581144"/>
            <a:ext cx="219456" cy="219456"/>
          </a:xfrm>
          <a:prstGeom prst="rect">
            <a:avLst/>
          </a:prstGeom>
        </p:spPr>
      </p:pic>
      <p:sp>
        <p:nvSpPr>
          <p:cNvPr id="38" name="Text 31"/>
          <p:cNvSpPr/>
          <p:nvPr/>
        </p:nvSpPr>
        <p:spPr>
          <a:xfrm>
            <a:off x="7013448" y="4325112"/>
            <a:ext cx="1463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EA5B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可穿牆</a:t>
            </a:r>
            <a:endParaRPr lang="en-US" sz="1600" dirty="0"/>
          </a:p>
        </p:txBody>
      </p:sp>
      <p:sp>
        <p:nvSpPr>
          <p:cNvPr id="39" name="Text 32"/>
          <p:cNvSpPr/>
          <p:nvPr/>
        </p:nvSpPr>
        <p:spPr>
          <a:xfrm>
            <a:off x="8458200" y="4325112"/>
            <a:ext cx="2926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E293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穿透牆面、家具、瓦礫;全黑亦可運作</a:t>
            </a:r>
            <a:endParaRPr lang="en-US" sz="1250" dirty="0"/>
          </a:p>
        </p:txBody>
      </p:sp>
      <p:sp>
        <p:nvSpPr>
          <p:cNvPr id="40" name="Shape 33"/>
          <p:cNvSpPr/>
          <p:nvPr/>
        </p:nvSpPr>
        <p:spPr>
          <a:xfrm>
            <a:off x="6172200" y="5276088"/>
            <a:ext cx="5470855" cy="950976"/>
          </a:xfrm>
          <a:prstGeom prst="roundRect">
            <a:avLst>
              <a:gd name="adj" fmla="val 7692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1" name="Shape 34"/>
          <p:cNvSpPr/>
          <p:nvPr/>
        </p:nvSpPr>
        <p:spPr>
          <a:xfrm>
            <a:off x="6373368" y="5522976"/>
            <a:ext cx="457200" cy="457200"/>
          </a:xfrm>
          <a:prstGeom prst="ellipse">
            <a:avLst/>
          </a:prstGeom>
          <a:solidFill>
            <a:srgbClr val="0EA5B5"/>
          </a:solidFill>
          <a:ln/>
        </p:spPr>
      </p:sp>
      <p:pic>
        <p:nvPicPr>
          <p:cNvPr id="42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92240" y="5641848"/>
            <a:ext cx="219456" cy="219456"/>
          </a:xfrm>
          <a:prstGeom prst="rect">
            <a:avLst/>
          </a:prstGeom>
        </p:spPr>
      </p:pic>
      <p:sp>
        <p:nvSpPr>
          <p:cNvPr id="43" name="Text 35"/>
          <p:cNvSpPr/>
          <p:nvPr/>
        </p:nvSpPr>
        <p:spPr>
          <a:xfrm>
            <a:off x="7013448" y="5385816"/>
            <a:ext cx="1463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EA5B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成本低</a:t>
            </a:r>
            <a:endParaRPr lang="en-US" sz="1600" dirty="0"/>
          </a:p>
        </p:txBody>
      </p:sp>
      <p:sp>
        <p:nvSpPr>
          <p:cNvPr id="44" name="Text 36"/>
          <p:cNvSpPr/>
          <p:nvPr/>
        </p:nvSpPr>
        <p:spPr>
          <a:xfrm>
            <a:off x="8458200" y="5385816"/>
            <a:ext cx="2926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E293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一台樹莓派約 $50,遠低於攝影機 $200–2000</a:t>
            </a:r>
            <a:endParaRPr lang="en-US" sz="1250" dirty="0"/>
          </a:p>
        </p:txBody>
      </p:sp>
      <p:sp>
        <p:nvSpPr>
          <p:cNvPr id="45" name="Text 37"/>
          <p:cNvSpPr/>
          <p:nvPr/>
        </p:nvSpPr>
        <p:spPr>
          <a:xfrm>
            <a:off x="548640" y="6455664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RuView · WiFi-DensePose</a:t>
            </a:r>
            <a:endParaRPr lang="en-US" sz="900" dirty="0"/>
          </a:p>
        </p:txBody>
      </p:sp>
      <p:sp>
        <p:nvSpPr>
          <p:cNvPr id="46" name="Text 38"/>
          <p:cNvSpPr/>
          <p:nvPr/>
        </p:nvSpPr>
        <p:spPr>
          <a:xfrm>
            <a:off x="10271455" y="645566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 / 17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20624"/>
            <a:ext cx="841248" cy="841248"/>
          </a:xfrm>
          <a:prstGeom prst="roundRect">
            <a:avLst>
              <a:gd name="adj" fmla="val 13043"/>
            </a:avLst>
          </a:prstGeom>
          <a:solidFill>
            <a:srgbClr val="22D3EE"/>
          </a:solidFill>
          <a:ln/>
          <a:effectLst>
            <a:outerShdw sx="100000" sy="100000" kx="0" ky="0" algn="bl" rotWithShape="0" blurRad="88900" dist="38100" dir="8100000">
              <a:srgbClr val="0A1A2F">
                <a:alpha val="16000"/>
              </a:srgbClr>
            </a:outerShdw>
          </a:effectLst>
        </p:spPr>
      </p:sp>
      <p:sp>
        <p:nvSpPr>
          <p:cNvPr id="3" name="Text 1"/>
          <p:cNvSpPr/>
          <p:nvPr/>
        </p:nvSpPr>
        <p:spPr>
          <a:xfrm>
            <a:off x="548640" y="420624"/>
            <a:ext cx="841248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A1A2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572768" y="402336"/>
            <a:ext cx="9997135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A1A2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系統簡介:RuView 系統總覽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1591056" y="987552"/>
            <a:ext cx="9997135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0EA5B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一句話:把一台普通的 WiFi 變成非接觸式感測器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548640" y="1572768"/>
            <a:ext cx="2075688" cy="2011680"/>
          </a:xfrm>
          <a:prstGeom prst="roundRect">
            <a:avLst>
              <a:gd name="adj" fmla="val 4091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38100" dir="8100000">
              <a:srgbClr val="0A1A2F">
                <a:alpha val="16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48640" y="1572768"/>
            <a:ext cx="2075688" cy="82296"/>
          </a:xfrm>
          <a:prstGeom prst="rect">
            <a:avLst/>
          </a:prstGeom>
          <a:solidFill>
            <a:srgbClr val="22D3EE"/>
          </a:solidFill>
          <a:ln/>
        </p:spPr>
      </p:sp>
      <p:sp>
        <p:nvSpPr>
          <p:cNvPr id="8" name="Shape 6"/>
          <p:cNvSpPr/>
          <p:nvPr/>
        </p:nvSpPr>
        <p:spPr>
          <a:xfrm>
            <a:off x="1202436" y="1847088"/>
            <a:ext cx="768096" cy="768096"/>
          </a:xfrm>
          <a:prstGeom prst="ellipse">
            <a:avLst/>
          </a:prstGeom>
          <a:solidFill>
            <a:srgbClr val="22D3EE"/>
          </a:solidFill>
          <a:ln/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02141" y="2046793"/>
            <a:ext cx="368686" cy="368686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640080" y="2670048"/>
            <a:ext cx="18928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A1A2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存在 / 人數</a:t>
            </a:r>
            <a:endParaRPr lang="en-US" sz="1500" dirty="0"/>
          </a:p>
        </p:txBody>
      </p:sp>
      <p:sp>
        <p:nvSpPr>
          <p:cNvPr id="11" name="Text 8"/>
          <p:cNvSpPr/>
          <p:nvPr/>
        </p:nvSpPr>
        <p:spPr>
          <a:xfrm>
            <a:off x="658368" y="3035808"/>
            <a:ext cx="185623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穿牆偵測、計數、進出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2788920" y="1572768"/>
            <a:ext cx="2075688" cy="2011680"/>
          </a:xfrm>
          <a:prstGeom prst="roundRect">
            <a:avLst>
              <a:gd name="adj" fmla="val 4091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38100" dir="8100000">
              <a:srgbClr val="0A1A2F">
                <a:alpha val="16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2788920" y="1572768"/>
            <a:ext cx="2075688" cy="82296"/>
          </a:xfrm>
          <a:prstGeom prst="rect">
            <a:avLst/>
          </a:prstGeom>
          <a:solidFill>
            <a:srgbClr val="0EA5B5"/>
          </a:solidFill>
          <a:ln/>
        </p:spPr>
      </p:sp>
      <p:sp>
        <p:nvSpPr>
          <p:cNvPr id="14" name="Shape 11"/>
          <p:cNvSpPr/>
          <p:nvPr/>
        </p:nvSpPr>
        <p:spPr>
          <a:xfrm>
            <a:off x="3442716" y="1847088"/>
            <a:ext cx="768096" cy="768096"/>
          </a:xfrm>
          <a:prstGeom prst="ellipse">
            <a:avLst/>
          </a:prstGeom>
          <a:solidFill>
            <a:srgbClr val="0EA5B5"/>
          </a:solidFill>
          <a:ln/>
        </p:spPr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42421" y="2046793"/>
            <a:ext cx="368686" cy="368686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2880360" y="2670048"/>
            <a:ext cx="18928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A1A2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生命徵象</a:t>
            </a:r>
            <a:endParaRPr lang="en-US" sz="1500" dirty="0"/>
          </a:p>
        </p:txBody>
      </p:sp>
      <p:sp>
        <p:nvSpPr>
          <p:cNvPr id="17" name="Text 13"/>
          <p:cNvSpPr/>
          <p:nvPr/>
        </p:nvSpPr>
        <p:spPr>
          <a:xfrm>
            <a:off x="2898648" y="3035808"/>
            <a:ext cx="185623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呼吸 6–30 BPM、心率 40–120 BPM</a:t>
            </a:r>
            <a:endParaRPr lang="en-US" sz="1100" dirty="0"/>
          </a:p>
        </p:txBody>
      </p:sp>
      <p:sp>
        <p:nvSpPr>
          <p:cNvPr id="18" name="Shape 14"/>
          <p:cNvSpPr/>
          <p:nvPr/>
        </p:nvSpPr>
        <p:spPr>
          <a:xfrm>
            <a:off x="5029200" y="1572768"/>
            <a:ext cx="2075688" cy="2011680"/>
          </a:xfrm>
          <a:prstGeom prst="roundRect">
            <a:avLst>
              <a:gd name="adj" fmla="val 4091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38100" dir="8100000">
              <a:srgbClr val="0A1A2F">
                <a:alpha val="16000"/>
              </a:srgbClr>
            </a:outerShdw>
          </a:effectLst>
        </p:spPr>
      </p:sp>
      <p:sp>
        <p:nvSpPr>
          <p:cNvPr id="19" name="Shape 15"/>
          <p:cNvSpPr/>
          <p:nvPr/>
        </p:nvSpPr>
        <p:spPr>
          <a:xfrm>
            <a:off x="5029200" y="1572768"/>
            <a:ext cx="2075688" cy="82296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20" name="Shape 16"/>
          <p:cNvSpPr/>
          <p:nvPr/>
        </p:nvSpPr>
        <p:spPr>
          <a:xfrm>
            <a:off x="5682996" y="1847088"/>
            <a:ext cx="768096" cy="768096"/>
          </a:xfrm>
          <a:prstGeom prst="ellipse">
            <a:avLst/>
          </a:prstGeom>
          <a:solidFill>
            <a:srgbClr val="3B82F6"/>
          </a:solidFill>
          <a:ln/>
        </p:spPr>
      </p:sp>
      <p:pic>
        <p:nvPicPr>
          <p:cNvPr id="2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82701" y="2046793"/>
            <a:ext cx="368686" cy="368686"/>
          </a:xfrm>
          <a:prstGeom prst="rect">
            <a:avLst/>
          </a:prstGeom>
        </p:spPr>
      </p:pic>
      <p:sp>
        <p:nvSpPr>
          <p:cNvPr id="22" name="Text 17"/>
          <p:cNvSpPr/>
          <p:nvPr/>
        </p:nvSpPr>
        <p:spPr>
          <a:xfrm>
            <a:off x="5120640" y="2670048"/>
            <a:ext cx="18928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A1A2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姿態 / 活動</a:t>
            </a:r>
            <a:endParaRPr lang="en-US" sz="1500" dirty="0"/>
          </a:p>
        </p:txBody>
      </p:sp>
      <p:sp>
        <p:nvSpPr>
          <p:cNvPr id="23" name="Text 18"/>
          <p:cNvSpPr/>
          <p:nvPr/>
        </p:nvSpPr>
        <p:spPr>
          <a:xfrm>
            <a:off x="5138928" y="3035808"/>
            <a:ext cx="185623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17 關鍵點骨架、走路、跌倒</a:t>
            </a:r>
            <a:endParaRPr lang="en-US" sz="1100" dirty="0"/>
          </a:p>
        </p:txBody>
      </p:sp>
      <p:sp>
        <p:nvSpPr>
          <p:cNvPr id="24" name="Shape 19"/>
          <p:cNvSpPr/>
          <p:nvPr/>
        </p:nvSpPr>
        <p:spPr>
          <a:xfrm>
            <a:off x="7269480" y="1572768"/>
            <a:ext cx="2075688" cy="2011680"/>
          </a:xfrm>
          <a:prstGeom prst="roundRect">
            <a:avLst>
              <a:gd name="adj" fmla="val 4091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38100" dir="8100000">
              <a:srgbClr val="0A1A2F">
                <a:alpha val="16000"/>
              </a:srgbClr>
            </a:outerShdw>
          </a:effectLst>
        </p:spPr>
      </p:sp>
      <p:sp>
        <p:nvSpPr>
          <p:cNvPr id="25" name="Shape 20"/>
          <p:cNvSpPr/>
          <p:nvPr/>
        </p:nvSpPr>
        <p:spPr>
          <a:xfrm>
            <a:off x="7269480" y="1572768"/>
            <a:ext cx="2075688" cy="82296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26" name="Shape 21"/>
          <p:cNvSpPr/>
          <p:nvPr/>
        </p:nvSpPr>
        <p:spPr>
          <a:xfrm>
            <a:off x="7923276" y="1847088"/>
            <a:ext cx="768096" cy="768096"/>
          </a:xfrm>
          <a:prstGeom prst="ellipse">
            <a:avLst/>
          </a:prstGeom>
          <a:solidFill>
            <a:srgbClr val="8B5CF6"/>
          </a:solidFill>
          <a:ln/>
        </p:spPr>
      </p:sp>
      <p:pic>
        <p:nvPicPr>
          <p:cNvPr id="2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22981" y="2046793"/>
            <a:ext cx="368686" cy="368686"/>
          </a:xfrm>
          <a:prstGeom prst="rect">
            <a:avLst/>
          </a:prstGeom>
        </p:spPr>
      </p:pic>
      <p:sp>
        <p:nvSpPr>
          <p:cNvPr id="28" name="Text 22"/>
          <p:cNvSpPr/>
          <p:nvPr/>
        </p:nvSpPr>
        <p:spPr>
          <a:xfrm>
            <a:off x="7360920" y="2670048"/>
            <a:ext cx="18928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A1A2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室內地圖</a:t>
            </a:r>
            <a:endParaRPr lang="en-US" sz="1500" dirty="0"/>
          </a:p>
        </p:txBody>
      </p:sp>
      <p:sp>
        <p:nvSpPr>
          <p:cNvPr id="29" name="Text 23"/>
          <p:cNvSpPr/>
          <p:nvPr/>
        </p:nvSpPr>
        <p:spPr>
          <a:xfrm>
            <a:off x="7379208" y="3035808"/>
            <a:ext cx="185623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RF 指紋辨識房間、物件變動</a:t>
            </a:r>
            <a:endParaRPr lang="en-US" sz="1100" dirty="0"/>
          </a:p>
        </p:txBody>
      </p:sp>
      <p:sp>
        <p:nvSpPr>
          <p:cNvPr id="30" name="Shape 24"/>
          <p:cNvSpPr/>
          <p:nvPr/>
        </p:nvSpPr>
        <p:spPr>
          <a:xfrm>
            <a:off x="9509760" y="1572768"/>
            <a:ext cx="2075688" cy="2011680"/>
          </a:xfrm>
          <a:prstGeom prst="roundRect">
            <a:avLst>
              <a:gd name="adj" fmla="val 4091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38100" dir="8100000">
              <a:srgbClr val="0A1A2F">
                <a:alpha val="16000"/>
              </a:srgbClr>
            </a:outerShdw>
          </a:effectLst>
        </p:spPr>
      </p:sp>
      <p:sp>
        <p:nvSpPr>
          <p:cNvPr id="31" name="Shape 25"/>
          <p:cNvSpPr/>
          <p:nvPr/>
        </p:nvSpPr>
        <p:spPr>
          <a:xfrm>
            <a:off x="9509760" y="1572768"/>
            <a:ext cx="2075688" cy="82296"/>
          </a:xfrm>
          <a:prstGeom prst="rect">
            <a:avLst/>
          </a:prstGeom>
          <a:solidFill>
            <a:srgbClr val="EC4899"/>
          </a:solidFill>
          <a:ln/>
        </p:spPr>
      </p:sp>
      <p:sp>
        <p:nvSpPr>
          <p:cNvPr id="32" name="Shape 26"/>
          <p:cNvSpPr/>
          <p:nvPr/>
        </p:nvSpPr>
        <p:spPr>
          <a:xfrm>
            <a:off x="10163556" y="1847088"/>
            <a:ext cx="768096" cy="768096"/>
          </a:xfrm>
          <a:prstGeom prst="ellipse">
            <a:avLst/>
          </a:prstGeom>
          <a:solidFill>
            <a:srgbClr val="EC4899"/>
          </a:solidFill>
          <a:ln/>
        </p:spPr>
      </p:sp>
      <p:pic>
        <p:nvPicPr>
          <p:cNvPr id="33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363261" y="2046793"/>
            <a:ext cx="368686" cy="368686"/>
          </a:xfrm>
          <a:prstGeom prst="rect">
            <a:avLst/>
          </a:prstGeom>
        </p:spPr>
      </p:pic>
      <p:sp>
        <p:nvSpPr>
          <p:cNvPr id="34" name="Text 27"/>
          <p:cNvSpPr/>
          <p:nvPr/>
        </p:nvSpPr>
        <p:spPr>
          <a:xfrm>
            <a:off x="9601200" y="2670048"/>
            <a:ext cx="18928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A1A2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睡眠品質</a:t>
            </a:r>
            <a:endParaRPr lang="en-US" sz="1500" dirty="0"/>
          </a:p>
        </p:txBody>
      </p:sp>
      <p:sp>
        <p:nvSpPr>
          <p:cNvPr id="35" name="Text 28"/>
          <p:cNvSpPr/>
          <p:nvPr/>
        </p:nvSpPr>
        <p:spPr>
          <a:xfrm>
            <a:off x="9619488" y="3035808"/>
            <a:ext cx="185623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睡眠分期、呼吸中止篩檢</a:t>
            </a:r>
            <a:endParaRPr lang="en-US" sz="1100" dirty="0"/>
          </a:p>
        </p:txBody>
      </p:sp>
      <p:sp>
        <p:nvSpPr>
          <p:cNvPr id="36" name="Shape 29"/>
          <p:cNvSpPr/>
          <p:nvPr/>
        </p:nvSpPr>
        <p:spPr>
          <a:xfrm>
            <a:off x="548640" y="3977640"/>
            <a:ext cx="11094415" cy="2057400"/>
          </a:xfrm>
          <a:prstGeom prst="roundRect">
            <a:avLst>
              <a:gd name="adj" fmla="val 4000"/>
            </a:avLst>
          </a:prstGeom>
          <a:solidFill>
            <a:srgbClr val="0A1A2F"/>
          </a:solidFill>
          <a:ln/>
          <a:effectLst>
            <a:outerShdw sx="100000" sy="100000" kx="0" ky="0" algn="bl" rotWithShape="0" blurRad="88900" dist="38100" dir="8100000">
              <a:srgbClr val="0A1A2F">
                <a:alpha val="16000"/>
              </a:srgbClr>
            </a:outerShdw>
          </a:effectLst>
        </p:spPr>
      </p:sp>
      <p:sp>
        <p:nvSpPr>
          <p:cNvPr id="37" name="Shape 30"/>
          <p:cNvSpPr/>
          <p:nvPr/>
        </p:nvSpPr>
        <p:spPr>
          <a:xfrm>
            <a:off x="8229600" y="3200400"/>
            <a:ext cx="6217920" cy="6217920"/>
          </a:xfrm>
          <a:prstGeom prst="ellipse">
            <a:avLst/>
          </a:prstGeom>
          <a:solidFill>
            <a:srgbClr val="0A1A2F">
              <a:alpha val="0"/>
            </a:srgbClr>
          </a:solidFill>
          <a:ln w="15875">
            <a:solidFill>
              <a:srgbClr val="22D3EE">
                <a:alpha val="65000"/>
              </a:srgbClr>
            </a:solidFill>
            <a:prstDash val="solid"/>
          </a:ln>
        </p:spPr>
      </p:sp>
      <p:sp>
        <p:nvSpPr>
          <p:cNvPr id="38" name="Shape 31"/>
          <p:cNvSpPr/>
          <p:nvPr/>
        </p:nvSpPr>
        <p:spPr>
          <a:xfrm>
            <a:off x="9144000" y="4114800"/>
            <a:ext cx="4389120" cy="4389120"/>
          </a:xfrm>
          <a:prstGeom prst="ellipse">
            <a:avLst/>
          </a:prstGeom>
          <a:solidFill>
            <a:srgbClr val="0A1A2F">
              <a:alpha val="0"/>
            </a:srgbClr>
          </a:solidFill>
          <a:ln w="15875">
            <a:solidFill>
              <a:srgbClr val="22D3EE">
                <a:alpha val="53000"/>
              </a:srgbClr>
            </a:solidFill>
            <a:prstDash val="solid"/>
          </a:ln>
        </p:spPr>
      </p:sp>
      <p:sp>
        <p:nvSpPr>
          <p:cNvPr id="39" name="Shape 32"/>
          <p:cNvSpPr/>
          <p:nvPr/>
        </p:nvSpPr>
        <p:spPr>
          <a:xfrm>
            <a:off x="9966960" y="4937760"/>
            <a:ext cx="2743200" cy="2743200"/>
          </a:xfrm>
          <a:prstGeom prst="ellipse">
            <a:avLst/>
          </a:prstGeom>
          <a:solidFill>
            <a:srgbClr val="0A1A2F">
              <a:alpha val="0"/>
            </a:srgbClr>
          </a:solidFill>
          <a:ln w="15875">
            <a:solidFill>
              <a:srgbClr val="22D3EE">
                <a:alpha val="41000"/>
              </a:srgbClr>
            </a:solidFill>
            <a:prstDash val="solid"/>
          </a:ln>
        </p:spPr>
      </p:sp>
      <p:sp>
        <p:nvSpPr>
          <p:cNvPr id="40" name="Shape 33"/>
          <p:cNvSpPr/>
          <p:nvPr/>
        </p:nvSpPr>
        <p:spPr>
          <a:xfrm>
            <a:off x="10698480" y="5669280"/>
            <a:ext cx="1280160" cy="1280160"/>
          </a:xfrm>
          <a:prstGeom prst="ellipse">
            <a:avLst/>
          </a:prstGeom>
          <a:solidFill>
            <a:srgbClr val="0A1A2F">
              <a:alpha val="0"/>
            </a:srgbClr>
          </a:solidFill>
          <a:ln w="15875">
            <a:solidFill>
              <a:srgbClr val="22D3EE">
                <a:alpha val="29000"/>
              </a:srgbClr>
            </a:solidFill>
            <a:prstDash val="solid"/>
          </a:ln>
        </p:spPr>
      </p:sp>
      <p:sp>
        <p:nvSpPr>
          <p:cNvPr id="41" name="Shape 34"/>
          <p:cNvSpPr/>
          <p:nvPr/>
        </p:nvSpPr>
        <p:spPr>
          <a:xfrm>
            <a:off x="11256264" y="6227064"/>
            <a:ext cx="164592" cy="164592"/>
          </a:xfrm>
          <a:prstGeom prst="ellipse">
            <a:avLst/>
          </a:prstGeom>
          <a:solidFill>
            <a:srgbClr val="22D3EE"/>
          </a:solidFill>
          <a:ln/>
        </p:spPr>
      </p:sp>
      <p:sp>
        <p:nvSpPr>
          <p:cNvPr id="42" name="Text 35"/>
          <p:cNvSpPr/>
          <p:nvPr/>
        </p:nvSpPr>
        <p:spPr>
          <a:xfrm>
            <a:off x="914400" y="4270248"/>
            <a:ext cx="1036289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2D3E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完全在邊緣運算</a:t>
            </a:r>
            <a:pPr indent="0" marL="0">
              <a:buNone/>
            </a:pPr>
            <a:r>
              <a:rPr lang="en-US" sz="1600" dirty="0">
                <a:solidFill>
                  <a:srgbClr val="E2E8F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 —  無雲端、無攝影機,連網路斷了也能運作。</a:t>
            </a:r>
            <a:endParaRPr lang="en-US" sz="1600" dirty="0"/>
          </a:p>
        </p:txBody>
      </p:sp>
      <p:sp>
        <p:nvSpPr>
          <p:cNvPr id="43" name="Text 36"/>
          <p:cNvSpPr/>
          <p:nvPr/>
        </p:nvSpPr>
        <p:spPr>
          <a:xfrm>
            <a:off x="914400" y="4818888"/>
            <a:ext cx="963137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整合生態:</a:t>
            </a:r>
            <a:pPr indent="0" marL="0">
              <a:buNone/>
            </a:pPr>
            <a:r>
              <a:rPr lang="en-US" sz="1350" dirty="0">
                <a:solidFill>
                  <a:srgbClr val="CBD5E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一鍵接 Home Assistant / Matter(Apple Home、Google Home、Alexa);可開「隱私模式」只輸出語意狀態。</a:t>
            </a:r>
            <a:endParaRPr lang="en-US" sz="1350" dirty="0"/>
          </a:p>
        </p:txBody>
      </p:sp>
      <p:sp>
        <p:nvSpPr>
          <p:cNvPr id="44" name="Text 37"/>
          <p:cNvSpPr/>
          <p:nvPr/>
        </p:nvSpPr>
        <p:spPr>
          <a:xfrm>
            <a:off x="914400" y="5349240"/>
            <a:ext cx="963137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雙程式碼庫:</a:t>
            </a:r>
            <a:pPr indent="0" marL="0">
              <a:buNone/>
            </a:pPr>
            <a:r>
              <a:rPr lang="en-US" sz="1350" dirty="0">
                <a:solidFill>
                  <a:srgbClr val="CBD5E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Python v1(原型)  +  </a:t>
            </a:r>
            <a:pPr indent="0" marL="0">
              <a:buNone/>
            </a:pPr>
            <a:r>
              <a:rPr lang="en-US" sz="1350" b="1" dirty="0">
                <a:solidFill>
                  <a:srgbClr val="22D3E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Rust v2(主力,效能約 810×)</a:t>
            </a:r>
            <a:endParaRPr lang="en-US" sz="1350" dirty="0"/>
          </a:p>
        </p:txBody>
      </p:sp>
      <p:sp>
        <p:nvSpPr>
          <p:cNvPr id="45" name="Text 38"/>
          <p:cNvSpPr/>
          <p:nvPr/>
        </p:nvSpPr>
        <p:spPr>
          <a:xfrm>
            <a:off x="548640" y="6455664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RuView · WiFi-DensePose</a:t>
            </a:r>
            <a:endParaRPr lang="en-US" sz="900" dirty="0"/>
          </a:p>
        </p:txBody>
      </p:sp>
      <p:sp>
        <p:nvSpPr>
          <p:cNvPr id="46" name="Text 39"/>
          <p:cNvSpPr/>
          <p:nvPr/>
        </p:nvSpPr>
        <p:spPr>
          <a:xfrm>
            <a:off x="10271455" y="645566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 / 17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20624"/>
            <a:ext cx="841248" cy="841248"/>
          </a:xfrm>
          <a:prstGeom prst="roundRect">
            <a:avLst>
              <a:gd name="adj" fmla="val 13043"/>
            </a:avLst>
          </a:prstGeom>
          <a:solidFill>
            <a:srgbClr val="22D3EE"/>
          </a:solidFill>
          <a:ln/>
          <a:effectLst>
            <a:outerShdw sx="100000" sy="100000" kx="0" ky="0" algn="bl" rotWithShape="0" blurRad="88900" dist="38100" dir="8100000">
              <a:srgbClr val="0A1A2F">
                <a:alpha val="16000"/>
              </a:srgbClr>
            </a:outerShdw>
          </a:effectLst>
        </p:spPr>
      </p:sp>
      <p:sp>
        <p:nvSpPr>
          <p:cNvPr id="3" name="Text 1"/>
          <p:cNvSpPr/>
          <p:nvPr/>
        </p:nvSpPr>
        <p:spPr>
          <a:xfrm>
            <a:off x="548640" y="420624"/>
            <a:ext cx="841248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A1A2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2.1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572768" y="402336"/>
            <a:ext cx="9997135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A1A2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軟硬體架構(一):Raspberry Pi 4 單機感測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1591056" y="987552"/>
            <a:ext cx="9997135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0EA5B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nexmon_csi 直接擷取 WiFi CSI;擷取與推論在同一台 Pi 4 完成</a:t>
            </a:r>
            <a:endParaRPr lang="en-US" sz="135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517904"/>
          <a:ext cx="6583680" cy="914400"/>
        </p:xfrm>
        <a:graphic>
          <a:graphicData uri="http://schemas.openxmlformats.org/drawingml/2006/table">
            <a:tbl>
              <a:tblPr/>
              <a:tblGrid>
                <a:gridCol w="1325880"/>
                <a:gridCol w="5257800"/>
              </a:tblGrid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項目</a:t>
                      </a:r>
                      <a:endParaRPr lang="en-US" sz="12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A2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規格</a:t>
                      </a:r>
                      <a:endParaRPr lang="en-US" sz="12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A2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1E293B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裝置</a:t>
                      </a:r>
                      <a:endParaRPr lang="en-US" sz="11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E293B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Raspberry Pi 4(4 / 8 GB RAM)</a:t>
                      </a:r>
                      <a:endParaRPr lang="en-US" sz="11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1E293B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WiFi 晶片</a:t>
                      </a:r>
                      <a:endParaRPr lang="en-US" sz="11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E293B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Broadcom BCM43455c0(1×1,802.11ac)</a:t>
                      </a:r>
                      <a:endParaRPr lang="en-US" sz="11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1E293B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CSI 擷取</a:t>
                      </a:r>
                      <a:endParaRPr lang="en-US" sz="11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0EA5B5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nexmon_csi 韌體修補 · monitor mode</a:t>
                      </a:r>
                      <a:endParaRPr lang="en-US" sz="11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1E293B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子載波</a:t>
                      </a:r>
                      <a:endParaRPr lang="en-US" sz="11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E293B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逐子載波複數 CSI,最高 80 MHz / 256</a:t>
                      </a:r>
                      <a:endParaRPr lang="en-US" sz="11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1E293B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運算</a:t>
                      </a:r>
                      <a:endParaRPr lang="en-US" sz="11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E293B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Cortex-A72 四核 @ 1.5 GHz</a:t>
                      </a:r>
                      <a:endParaRPr lang="en-US" sz="11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1E293B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角色</a:t>
                      </a:r>
                      <a:endParaRPr lang="en-US" sz="11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0EA5B5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擷取 + 推論一機完成(本地 daemon)</a:t>
                      </a:r>
                      <a:endParaRPr lang="en-US" sz="11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548640" y="4526280"/>
            <a:ext cx="6583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平台亦相容  </a:t>
            </a:r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ESP32-S3 · Intel 5300 · Atheros AR9580</a:t>
            </a:r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(本實作採用 Pi 4)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548640" y="4937760"/>
            <a:ext cx="6583680" cy="1143000"/>
          </a:xfrm>
          <a:prstGeom prst="roundRect">
            <a:avLst>
              <a:gd name="adj" fmla="val 6400"/>
            </a:avLst>
          </a:prstGeom>
          <a:solidFill>
            <a:srgbClr val="0A1A2F"/>
          </a:solidFill>
          <a:ln/>
          <a:effectLst>
            <a:outerShdw sx="100000" sy="100000" kx="0" ky="0" algn="bl" rotWithShape="0" blurRad="88900" dist="38100" dir="8100000">
              <a:srgbClr val="0A1A2F">
                <a:alpha val="16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822960" y="5047488"/>
            <a:ext cx="6126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2D3E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單機端到端管線(全在一台 Pi 4)</a:t>
            </a:r>
            <a:endParaRPr lang="en-US" sz="1350" dirty="0"/>
          </a:p>
        </p:txBody>
      </p:sp>
      <p:sp>
        <p:nvSpPr>
          <p:cNvPr id="10" name="Text 7"/>
          <p:cNvSpPr/>
          <p:nvPr/>
        </p:nvSpPr>
        <p:spPr>
          <a:xfrm>
            <a:off x="822960" y="5413248"/>
            <a:ext cx="6126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2E8F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WiFi → nexmon CSI 擷取 → rvCSI 正規化 → 訊號處理 → 模型推論 → 輸出</a:t>
            </a:r>
            <a:endParaRPr lang="en-US" sz="1150" dirty="0"/>
          </a:p>
        </p:txBody>
      </p:sp>
      <p:sp>
        <p:nvSpPr>
          <p:cNvPr id="11" name="Text 8"/>
          <p:cNvSpPr/>
          <p:nvPr/>
        </p:nvSpPr>
        <p:spPr>
          <a:xfrm>
            <a:off x="822960" y="5724144"/>
            <a:ext cx="6126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無需額外感測節點,也無需外部伺服器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7315200" y="1517904"/>
            <a:ext cx="4325112" cy="2057400"/>
          </a:xfrm>
          <a:prstGeom prst="roundRect">
            <a:avLst>
              <a:gd name="adj" fmla="val 4444"/>
            </a:avLst>
          </a:prstGeom>
          <a:solidFill>
            <a:srgbClr val="112A45"/>
          </a:solidFill>
          <a:ln w="15875">
            <a:solidFill>
              <a:srgbClr val="22D3EE"/>
            </a:solidFill>
            <a:prstDash val="solid"/>
          </a:ln>
          <a:effectLst>
            <a:outerShdw sx="100000" sy="100000" kx="0" ky="0" algn="bl" rotWithShape="0" blurRad="88900" dist="38100" dir="8100000">
              <a:srgbClr val="0A1A2F">
                <a:alpha val="16000"/>
              </a:srgbClr>
            </a:outerShdw>
          </a:effectLst>
        </p:spPr>
      </p:sp>
      <p:pic>
        <p:nvPicPr>
          <p:cNvPr id="13" name="Image 0" descr="D:/RuView/assets/screenshot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7434072" y="1682496"/>
            <a:ext cx="4087368" cy="1481328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7315200" y="3255264"/>
            <a:ext cx="43251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22D3E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系統即時感測畫面</a:t>
            </a:r>
            <a:endParaRPr lang="en-US" sz="1000" dirty="0"/>
          </a:p>
        </p:txBody>
      </p:sp>
      <p:sp>
        <p:nvSpPr>
          <p:cNvPr id="15" name="Text 11"/>
          <p:cNvSpPr/>
          <p:nvPr/>
        </p:nvSpPr>
        <p:spPr>
          <a:xfrm>
            <a:off x="7315200" y="3694176"/>
            <a:ext cx="432511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6474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重點規格</a:t>
            </a:r>
            <a:endParaRPr lang="en-US" sz="1300" dirty="0"/>
          </a:p>
        </p:txBody>
      </p:sp>
      <p:sp>
        <p:nvSpPr>
          <p:cNvPr id="16" name="Shape 12"/>
          <p:cNvSpPr/>
          <p:nvPr/>
        </p:nvSpPr>
        <p:spPr>
          <a:xfrm>
            <a:off x="7315200" y="4078224"/>
            <a:ext cx="1371600" cy="914400"/>
          </a:xfrm>
          <a:prstGeom prst="roundRect">
            <a:avLst>
              <a:gd name="adj" fmla="val 80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38100" dir="8100000">
              <a:srgbClr val="0A1A2F">
                <a:alpha val="16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7315200" y="4928616"/>
            <a:ext cx="1371600" cy="64008"/>
          </a:xfrm>
          <a:prstGeom prst="rect">
            <a:avLst/>
          </a:prstGeom>
          <a:solidFill>
            <a:srgbClr val="22D3EE"/>
          </a:solidFill>
          <a:ln/>
        </p:spPr>
      </p:sp>
      <p:sp>
        <p:nvSpPr>
          <p:cNvPr id="18" name="Text 14"/>
          <p:cNvSpPr/>
          <p:nvPr/>
        </p:nvSpPr>
        <p:spPr>
          <a:xfrm>
            <a:off x="7406640" y="4187952"/>
            <a:ext cx="11887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700" b="1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256</a:t>
            </a:r>
            <a:endParaRPr lang="en-US" sz="2700" dirty="0"/>
          </a:p>
        </p:txBody>
      </p:sp>
      <p:sp>
        <p:nvSpPr>
          <p:cNvPr id="19" name="Text 15"/>
          <p:cNvSpPr/>
          <p:nvPr/>
        </p:nvSpPr>
        <p:spPr>
          <a:xfrm>
            <a:off x="7406640" y="4626864"/>
            <a:ext cx="1188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子載波上限</a:t>
            </a:r>
            <a:endParaRPr lang="en-US" sz="1100" dirty="0"/>
          </a:p>
        </p:txBody>
      </p:sp>
      <p:sp>
        <p:nvSpPr>
          <p:cNvPr id="20" name="Shape 16"/>
          <p:cNvSpPr/>
          <p:nvPr/>
        </p:nvSpPr>
        <p:spPr>
          <a:xfrm>
            <a:off x="8796528" y="4078224"/>
            <a:ext cx="1371600" cy="914400"/>
          </a:xfrm>
          <a:prstGeom prst="roundRect">
            <a:avLst>
              <a:gd name="adj" fmla="val 80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38100" dir="8100000">
              <a:srgbClr val="0A1A2F">
                <a:alpha val="16000"/>
              </a:srgbClr>
            </a:outerShdw>
          </a:effectLst>
        </p:spPr>
      </p:sp>
      <p:sp>
        <p:nvSpPr>
          <p:cNvPr id="21" name="Shape 17"/>
          <p:cNvSpPr/>
          <p:nvPr/>
        </p:nvSpPr>
        <p:spPr>
          <a:xfrm>
            <a:off x="8796528" y="4928616"/>
            <a:ext cx="1371600" cy="64008"/>
          </a:xfrm>
          <a:prstGeom prst="rect">
            <a:avLst/>
          </a:prstGeom>
          <a:solidFill>
            <a:srgbClr val="0EA5B5"/>
          </a:solidFill>
          <a:ln/>
        </p:spPr>
      </p:sp>
      <p:sp>
        <p:nvSpPr>
          <p:cNvPr id="22" name="Text 18"/>
          <p:cNvSpPr/>
          <p:nvPr/>
        </p:nvSpPr>
        <p:spPr>
          <a:xfrm>
            <a:off x="8887968" y="4187952"/>
            <a:ext cx="11887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700" b="1" dirty="0">
                <a:solidFill>
                  <a:srgbClr val="0EA5B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$35-55</a:t>
            </a:r>
            <a:endParaRPr lang="en-US" sz="2700" dirty="0"/>
          </a:p>
        </p:txBody>
      </p:sp>
      <p:sp>
        <p:nvSpPr>
          <p:cNvPr id="23" name="Text 19"/>
          <p:cNvSpPr/>
          <p:nvPr/>
        </p:nvSpPr>
        <p:spPr>
          <a:xfrm>
            <a:off x="8887968" y="4626864"/>
            <a:ext cx="1188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Pi 4 單機</a:t>
            </a:r>
            <a:endParaRPr lang="en-US" sz="1100" dirty="0"/>
          </a:p>
        </p:txBody>
      </p:sp>
      <p:sp>
        <p:nvSpPr>
          <p:cNvPr id="24" name="Shape 20"/>
          <p:cNvSpPr/>
          <p:nvPr/>
        </p:nvSpPr>
        <p:spPr>
          <a:xfrm>
            <a:off x="10277856" y="4078224"/>
            <a:ext cx="1362456" cy="914400"/>
          </a:xfrm>
          <a:prstGeom prst="roundRect">
            <a:avLst>
              <a:gd name="adj" fmla="val 80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38100" dir="8100000">
              <a:srgbClr val="0A1A2F">
                <a:alpha val="16000"/>
              </a:srgbClr>
            </a:outerShdw>
          </a:effectLst>
        </p:spPr>
      </p:sp>
      <p:sp>
        <p:nvSpPr>
          <p:cNvPr id="25" name="Shape 21"/>
          <p:cNvSpPr/>
          <p:nvPr/>
        </p:nvSpPr>
        <p:spPr>
          <a:xfrm>
            <a:off x="10277856" y="4928616"/>
            <a:ext cx="1362456" cy="64008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26" name="Text 22"/>
          <p:cNvSpPr/>
          <p:nvPr/>
        </p:nvSpPr>
        <p:spPr>
          <a:xfrm>
            <a:off x="10369296" y="4187952"/>
            <a:ext cx="117957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700" b="1" dirty="0">
                <a:solidFill>
                  <a:srgbClr val="3B82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 台</a:t>
            </a:r>
            <a:endParaRPr lang="en-US" sz="2700" dirty="0"/>
          </a:p>
        </p:txBody>
      </p:sp>
      <p:sp>
        <p:nvSpPr>
          <p:cNvPr id="27" name="Text 23"/>
          <p:cNvSpPr/>
          <p:nvPr/>
        </p:nvSpPr>
        <p:spPr>
          <a:xfrm>
            <a:off x="10369296" y="4626864"/>
            <a:ext cx="117957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擷取+推論</a:t>
            </a:r>
            <a:endParaRPr lang="en-US" sz="1100" dirty="0"/>
          </a:p>
        </p:txBody>
      </p:sp>
      <p:sp>
        <p:nvSpPr>
          <p:cNvPr id="28" name="Text 24"/>
          <p:cNvSpPr/>
          <p:nvPr/>
        </p:nvSpPr>
        <p:spPr>
          <a:xfrm>
            <a:off x="7315200" y="5138928"/>
            <a:ext cx="432511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0A1A2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部署:</a:t>
            </a:r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單台 Raspberry Pi 4 — nexmon_csi 擷取 + Candle 本地推論,無 ESP32 mesh、無外部伺服器。</a:t>
            </a:r>
            <a:endParaRPr lang="en-US" sz="1150" dirty="0"/>
          </a:p>
        </p:txBody>
      </p:sp>
      <p:sp>
        <p:nvSpPr>
          <p:cNvPr id="29" name="Text 25"/>
          <p:cNvSpPr/>
          <p:nvPr/>
        </p:nvSpPr>
        <p:spPr>
          <a:xfrm>
            <a:off x="548640" y="6455664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RuView · WiFi-DensePose</a:t>
            </a:r>
            <a:endParaRPr lang="en-US" sz="900" dirty="0"/>
          </a:p>
        </p:txBody>
      </p:sp>
      <p:sp>
        <p:nvSpPr>
          <p:cNvPr id="30" name="Text 26"/>
          <p:cNvSpPr/>
          <p:nvPr/>
        </p:nvSpPr>
        <p:spPr>
          <a:xfrm>
            <a:off x="10271455" y="645566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04 / 17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20624"/>
            <a:ext cx="841248" cy="841248"/>
          </a:xfrm>
          <a:prstGeom prst="roundRect">
            <a:avLst>
              <a:gd name="adj" fmla="val 13043"/>
            </a:avLst>
          </a:prstGeom>
          <a:solidFill>
            <a:srgbClr val="22D3EE"/>
          </a:solidFill>
          <a:ln/>
          <a:effectLst>
            <a:outerShdw sx="100000" sy="100000" kx="0" ky="0" algn="bl" rotWithShape="0" blurRad="88900" dist="38100" dir="8100000">
              <a:srgbClr val="0A1A2F">
                <a:alpha val="16000"/>
              </a:srgbClr>
            </a:outerShdw>
          </a:effectLst>
        </p:spPr>
      </p:sp>
      <p:sp>
        <p:nvSpPr>
          <p:cNvPr id="3" name="Text 1"/>
          <p:cNvSpPr/>
          <p:nvPr/>
        </p:nvSpPr>
        <p:spPr>
          <a:xfrm>
            <a:off x="548640" y="420624"/>
            <a:ext cx="841248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A1A2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2.1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572768" y="402336"/>
            <a:ext cx="9997135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A1A2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軟硬體架構(二):15 個 Rust Crate 分層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1591056" y="987552"/>
            <a:ext cx="9997135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0EA5B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嚴格分層的模組化架構,從韌體到應用一氣呵成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548640" y="1572768"/>
            <a:ext cx="6858000" cy="1078992"/>
          </a:xfrm>
          <a:prstGeom prst="roundRect">
            <a:avLst>
              <a:gd name="adj" fmla="val 6780"/>
            </a:avLst>
          </a:prstGeom>
          <a:solidFill>
            <a:srgbClr val="3B82F6"/>
          </a:solidFill>
          <a:ln/>
          <a:effectLst>
            <a:outerShdw sx="100000" sy="100000" kx="0" ky="0" algn="bl" rotWithShape="0" blurRad="88900" dist="38100" dir="8100000">
              <a:srgbClr val="0A1A2F">
                <a:alpha val="16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822960" y="1719072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2D3E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應用層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822960" y="2103120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mat(災難搜救) · wasm(瀏覽器) · sensing-server(Axum) · cli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548640" y="2779776"/>
            <a:ext cx="6858000" cy="1078992"/>
          </a:xfrm>
          <a:prstGeom prst="roundRect">
            <a:avLst>
              <a:gd name="adj" fmla="val 6780"/>
            </a:avLst>
          </a:prstGeom>
          <a:solidFill>
            <a:srgbClr val="0EA5B5"/>
          </a:solidFill>
          <a:ln/>
          <a:effectLst>
            <a:outerShdw sx="100000" sy="100000" kx="0" ky="0" algn="bl" rotWithShape="0" blurRad="88900" dist="38100" dir="8100000">
              <a:srgbClr val="0A1A2F">
                <a:alpha val="16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822960" y="292608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2D3E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訊號 / AI 層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822960" y="3310128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signal(SOTA DSP + RuvSense 14 模組) · nn(ONNX/Candle) · ruvector · train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548640" y="3986784"/>
            <a:ext cx="6858000" cy="1078992"/>
          </a:xfrm>
          <a:prstGeom prst="roundRect">
            <a:avLst>
              <a:gd name="adj" fmla="val 6780"/>
            </a:avLst>
          </a:prstGeom>
          <a:solidFill>
            <a:srgbClr val="0A1A2F"/>
          </a:solidFill>
          <a:ln/>
          <a:effectLst>
            <a:outerShdw sx="100000" sy="100000" kx="0" ky="0" algn="bl" rotWithShape="0" blurRad="88900" dist="38100" dir="8100000">
              <a:srgbClr val="0A1A2F">
                <a:alpha val="16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822960" y="4133088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2D3E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基礎層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822960" y="4517136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core(型別 / CSI frame) · vitals · wifiscan · hardware(TDM / 封包解析)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548640" y="5193792"/>
            <a:ext cx="6858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依賴方向:基礎層 → 訊號/AI 層 → 應用層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7635240" y="1572768"/>
            <a:ext cx="4007815" cy="2697480"/>
          </a:xfrm>
          <a:prstGeom prst="roundRect">
            <a:avLst>
              <a:gd name="adj" fmla="val 2712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38100" dir="8100000">
              <a:srgbClr val="0A1A2F">
                <a:alpha val="16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7891272" y="1737360"/>
            <a:ext cx="35506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A1A2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關鍵技術棧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7909560" y="2139696"/>
            <a:ext cx="3504895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Rust(主力)+ Python(pip install ruview)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推論:ONNX / PyTorch / Candle 三後端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AI 骨幹:RuVector(注意力 / 圖論 / 壓縮)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模型:RVF 單檔簽章格式 · Server:Axum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整合:MQTT + Matter + 隱私模式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7635240" y="4434840"/>
            <a:ext cx="4007815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6474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Rust 重寫的效能成果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7635240" y="4828032"/>
            <a:ext cx="1912468" cy="1188720"/>
          </a:xfrm>
          <a:prstGeom prst="roundRect">
            <a:avLst>
              <a:gd name="adj" fmla="val 6154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38100" dir="8100000">
              <a:srgbClr val="0A1A2F">
                <a:alpha val="16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7635240" y="5952744"/>
            <a:ext cx="1912468" cy="64008"/>
          </a:xfrm>
          <a:prstGeom prst="rect">
            <a:avLst/>
          </a:prstGeom>
          <a:solidFill>
            <a:srgbClr val="0EA5B5"/>
          </a:solidFill>
          <a:ln/>
        </p:spPr>
      </p:sp>
      <p:sp>
        <p:nvSpPr>
          <p:cNvPr id="22" name="Text 20"/>
          <p:cNvSpPr/>
          <p:nvPr/>
        </p:nvSpPr>
        <p:spPr>
          <a:xfrm>
            <a:off x="7726680" y="4937760"/>
            <a:ext cx="1729588" cy="61813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700" b="1" dirty="0">
                <a:solidFill>
                  <a:srgbClr val="0EA5B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100 MB</a:t>
            </a:r>
            <a:endParaRPr lang="en-US" sz="2700" dirty="0"/>
          </a:p>
        </p:txBody>
      </p:sp>
      <p:sp>
        <p:nvSpPr>
          <p:cNvPr id="23" name="Text 21"/>
          <p:cNvSpPr/>
          <p:nvPr/>
        </p:nvSpPr>
        <p:spPr>
          <a:xfrm>
            <a:off x="7726680" y="5541264"/>
            <a:ext cx="1729588" cy="3803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記憶體 (vs 500 MB)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9730588" y="4828032"/>
            <a:ext cx="1912468" cy="1188720"/>
          </a:xfrm>
          <a:prstGeom prst="roundRect">
            <a:avLst>
              <a:gd name="adj" fmla="val 6154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38100" dir="8100000">
              <a:srgbClr val="0A1A2F">
                <a:alpha val="16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9730588" y="5952744"/>
            <a:ext cx="1912468" cy="64008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26" name="Text 24"/>
          <p:cNvSpPr/>
          <p:nvPr/>
        </p:nvSpPr>
        <p:spPr>
          <a:xfrm>
            <a:off x="9822028" y="4937760"/>
            <a:ext cx="1729588" cy="61813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700" b="1" dirty="0">
                <a:solidFill>
                  <a:srgbClr val="3B82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132 MB</a:t>
            </a:r>
            <a:endParaRPr lang="en-US" sz="2700" dirty="0"/>
          </a:p>
        </p:txBody>
      </p:sp>
      <p:sp>
        <p:nvSpPr>
          <p:cNvPr id="27" name="Text 25"/>
          <p:cNvSpPr/>
          <p:nvPr/>
        </p:nvSpPr>
        <p:spPr>
          <a:xfrm>
            <a:off x="9822028" y="5541264"/>
            <a:ext cx="1729588" cy="3803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Docker (vs 569 MB)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548640" y="6455664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RuView · WiFi-DensePose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10271455" y="645566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05 / 17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20624"/>
            <a:ext cx="841248" cy="841248"/>
          </a:xfrm>
          <a:prstGeom prst="roundRect">
            <a:avLst>
              <a:gd name="adj" fmla="val 13043"/>
            </a:avLst>
          </a:prstGeom>
          <a:solidFill>
            <a:srgbClr val="22D3EE"/>
          </a:solidFill>
          <a:ln/>
          <a:effectLst>
            <a:outerShdw sx="100000" sy="100000" kx="0" ky="0" algn="bl" rotWithShape="0" blurRad="88900" dist="38100" dir="8100000">
              <a:srgbClr val="0A1A2F">
                <a:alpha val="16000"/>
              </a:srgbClr>
            </a:outerShdw>
          </a:effectLst>
        </p:spPr>
      </p:sp>
      <p:sp>
        <p:nvSpPr>
          <p:cNvPr id="3" name="Text 1"/>
          <p:cNvSpPr/>
          <p:nvPr/>
        </p:nvSpPr>
        <p:spPr>
          <a:xfrm>
            <a:off x="548640" y="420624"/>
            <a:ext cx="841248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A1A2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2.2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572768" y="402336"/>
            <a:ext cx="9997135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A1A2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工作原理(一):CSI 為何能「看見」人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1591056" y="987552"/>
            <a:ext cx="9997135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0EA5B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Channel State Information — 通道狀態資訊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548640" y="1572768"/>
            <a:ext cx="6035040" cy="2103120"/>
          </a:xfrm>
          <a:prstGeom prst="roundRect">
            <a:avLst>
              <a:gd name="adj" fmla="val 3478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38100" dir="8100000">
              <a:srgbClr val="0A1A2F">
                <a:alpha val="16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804672" y="173736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A1A2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CSI 是什麼?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822960" y="2139696"/>
            <a:ext cx="55778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WiFi 用 OFDM 把訊號拆成數十個「子載波」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每個子載波記錄振幅衰減 + 相位偏移(複數值)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vs RSSI 只有 1 個純量 → CSI 有 56–256 子載波 × 複數相位,資訊量大幾個數量級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48640" y="3840480"/>
            <a:ext cx="6035040" cy="2148840"/>
          </a:xfrm>
          <a:prstGeom prst="roundRect">
            <a:avLst>
              <a:gd name="adj" fmla="val 3404"/>
            </a:avLst>
          </a:prstGeom>
          <a:solidFill>
            <a:srgbClr val="0A1A2F"/>
          </a:solidFill>
          <a:ln/>
          <a:effectLst>
            <a:outerShdw sx="100000" sy="100000" kx="0" ky="0" algn="bl" rotWithShape="0" blurRad="88900" dist="38100" dir="8100000">
              <a:srgbClr val="0A1A2F">
                <a:alpha val="16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804672" y="4041648"/>
            <a:ext cx="512064" cy="512064"/>
          </a:xfrm>
          <a:prstGeom prst="ellipse">
            <a:avLst/>
          </a:prstGeom>
          <a:solidFill>
            <a:srgbClr val="F59E0B"/>
          </a:solidFill>
          <a:ln/>
        </p:spPr>
      </p:sp>
      <p:pic>
        <p:nvPicPr>
          <p:cNvPr id="1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37809" y="4174785"/>
            <a:ext cx="245791" cy="245791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1463040" y="4041648"/>
            <a:ext cx="49377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2D3E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人為什麼會擾動訊號?</a:t>
            </a:r>
            <a:endParaRPr lang="en-US" sz="1500" dirty="0"/>
          </a:p>
        </p:txBody>
      </p:sp>
      <p:sp>
        <p:nvSpPr>
          <p:cNvPr id="13" name="Text 10"/>
          <p:cNvSpPr/>
          <p:nvPr/>
        </p:nvSpPr>
        <p:spPr>
          <a:xfrm>
            <a:off x="822960" y="461772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2E8F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人體是反射 / 吸收體,改變電波的多重路徑傳播。</a:t>
            </a:r>
            <a:endParaRPr lang="en-US" sz="1250" dirty="0"/>
          </a:p>
        </p:txBody>
      </p:sp>
      <p:sp>
        <p:nvSpPr>
          <p:cNvPr id="14" name="Text 11"/>
          <p:cNvSpPr/>
          <p:nvPr/>
        </p:nvSpPr>
        <p:spPr>
          <a:xfrm>
            <a:off x="822960" y="5029200"/>
            <a:ext cx="54864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250" dirty="0">
                <a:solidFill>
                  <a:srgbClr val="E2E8F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🫁 呼吸:胸腔位移 1–5 mm @ 0.1–0.5 Hz</a:t>
            </a:r>
            <a:endParaRPr lang="en-US" sz="12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50" dirty="0">
                <a:solidFill>
                  <a:srgbClr val="FBBF2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💓 心跳:體表僅 0.1–0.5 mm @ 0.8–2.0 Hz(更難)</a:t>
            </a:r>
            <a:endParaRPr lang="en-US" sz="1250" dirty="0"/>
          </a:p>
        </p:txBody>
      </p:sp>
      <p:sp>
        <p:nvSpPr>
          <p:cNvPr id="15" name="Shape 12"/>
          <p:cNvSpPr/>
          <p:nvPr/>
        </p:nvSpPr>
        <p:spPr>
          <a:xfrm>
            <a:off x="6858000" y="1572768"/>
            <a:ext cx="4785055" cy="2788920"/>
          </a:xfrm>
          <a:prstGeom prst="roundRect">
            <a:avLst>
              <a:gd name="adj" fmla="val 3279"/>
            </a:avLst>
          </a:prstGeom>
          <a:solidFill>
            <a:srgbClr val="112A45"/>
          </a:solidFill>
          <a:ln/>
          <a:effectLst>
            <a:outerShdw sx="100000" sy="100000" kx="0" ky="0" algn="bl" rotWithShape="0" blurRad="88900" dist="38100" dir="8100000">
              <a:srgbClr val="0A1A2F">
                <a:alpha val="16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4846320" y="-137160"/>
            <a:ext cx="6217920" cy="6217920"/>
          </a:xfrm>
          <a:prstGeom prst="ellipse">
            <a:avLst/>
          </a:prstGeom>
          <a:solidFill>
            <a:srgbClr val="0A1A2F">
              <a:alpha val="0"/>
            </a:srgbClr>
          </a:solidFill>
          <a:ln w="15875">
            <a:solidFill>
              <a:srgbClr val="22D3EE">
                <a:alpha val="65000"/>
              </a:srgbClr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5760720" y="777240"/>
            <a:ext cx="4389120" cy="4389120"/>
          </a:xfrm>
          <a:prstGeom prst="ellipse">
            <a:avLst/>
          </a:prstGeom>
          <a:solidFill>
            <a:srgbClr val="0A1A2F">
              <a:alpha val="0"/>
            </a:srgbClr>
          </a:solidFill>
          <a:ln w="15875">
            <a:solidFill>
              <a:srgbClr val="22D3EE">
                <a:alpha val="53000"/>
              </a:srgbClr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6583680" y="1600200"/>
            <a:ext cx="2743200" cy="2743200"/>
          </a:xfrm>
          <a:prstGeom prst="ellipse">
            <a:avLst/>
          </a:prstGeom>
          <a:solidFill>
            <a:srgbClr val="0A1A2F">
              <a:alpha val="0"/>
            </a:srgbClr>
          </a:solidFill>
          <a:ln w="15875">
            <a:solidFill>
              <a:srgbClr val="22D3EE">
                <a:alpha val="41000"/>
              </a:srgbClr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7315200" y="2331720"/>
            <a:ext cx="1280160" cy="1280160"/>
          </a:xfrm>
          <a:prstGeom prst="ellipse">
            <a:avLst/>
          </a:prstGeom>
          <a:solidFill>
            <a:srgbClr val="0A1A2F">
              <a:alpha val="0"/>
            </a:srgbClr>
          </a:solidFill>
          <a:ln w="15875">
            <a:solidFill>
              <a:srgbClr val="22D3EE">
                <a:alpha val="29000"/>
              </a:srgbClr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7872984" y="2889504"/>
            <a:ext cx="164592" cy="164592"/>
          </a:xfrm>
          <a:prstGeom prst="ellipse">
            <a:avLst/>
          </a:prstGeom>
          <a:solidFill>
            <a:srgbClr val="22D3EE"/>
          </a:solidFill>
          <a:ln/>
        </p:spPr>
      </p:sp>
      <p:sp>
        <p:nvSpPr>
          <p:cNvPr id="21" name="Shape 18"/>
          <p:cNvSpPr/>
          <p:nvPr/>
        </p:nvSpPr>
        <p:spPr>
          <a:xfrm>
            <a:off x="9784080" y="2697480"/>
            <a:ext cx="548640" cy="548640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22" name="Text 19"/>
          <p:cNvSpPr/>
          <p:nvPr/>
        </p:nvSpPr>
        <p:spPr>
          <a:xfrm>
            <a:off x="9646920" y="324612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BBF2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人體</a:t>
            </a:r>
            <a:endParaRPr lang="en-US" sz="1000" dirty="0"/>
          </a:p>
        </p:txBody>
      </p:sp>
      <p:sp>
        <p:nvSpPr>
          <p:cNvPr id="23" name="Text 20"/>
          <p:cNvSpPr/>
          <p:nvPr/>
        </p:nvSpPr>
        <p:spPr>
          <a:xfrm>
            <a:off x="7772400" y="28346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TX</a:t>
            </a:r>
            <a:endParaRPr lang="en-US" sz="1100" dirty="0"/>
          </a:p>
        </p:txBody>
      </p:sp>
      <p:sp>
        <p:nvSpPr>
          <p:cNvPr id="24" name="Text 21"/>
          <p:cNvSpPr/>
          <p:nvPr/>
        </p:nvSpPr>
        <p:spPr>
          <a:xfrm>
            <a:off x="7040880" y="3931920"/>
            <a:ext cx="4937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22D3E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電波經人體散射 → CSI 改變</a:t>
            </a:r>
            <a:endParaRPr lang="en-US" sz="1100" dirty="0"/>
          </a:p>
        </p:txBody>
      </p:sp>
      <p:sp>
        <p:nvSpPr>
          <p:cNvPr id="25" name="Shape 22"/>
          <p:cNvSpPr/>
          <p:nvPr/>
        </p:nvSpPr>
        <p:spPr>
          <a:xfrm>
            <a:off x="6858000" y="4526280"/>
            <a:ext cx="4785055" cy="1463040"/>
          </a:xfrm>
          <a:prstGeom prst="roundRect">
            <a:avLst>
              <a:gd name="adj" fmla="val 5000"/>
            </a:avLst>
          </a:prstGeom>
          <a:solidFill>
            <a:srgbClr val="FEF3C7"/>
          </a:solidFill>
          <a:ln w="15875">
            <a:solidFill>
              <a:srgbClr val="F59E0B"/>
            </a:solidFill>
            <a:prstDash val="solid"/>
          </a:ln>
          <a:effectLst>
            <a:outerShdw sx="100000" sy="100000" kx="0" ky="0" algn="bl" rotWithShape="0" blurRad="88900" dist="38100" dir="8100000">
              <a:srgbClr val="0A1A2F">
                <a:alpha val="16000"/>
              </a:srgbClr>
            </a:outerShdw>
          </a:effectLst>
        </p:spPr>
      </p:sp>
      <p:sp>
        <p:nvSpPr>
          <p:cNvPr id="26" name="Shape 23"/>
          <p:cNvSpPr/>
          <p:nvPr/>
        </p:nvSpPr>
        <p:spPr>
          <a:xfrm>
            <a:off x="7077456" y="4736592"/>
            <a:ext cx="457200" cy="457200"/>
          </a:xfrm>
          <a:prstGeom prst="ellipse">
            <a:avLst/>
          </a:prstGeom>
          <a:solidFill>
            <a:srgbClr val="F59E0B"/>
          </a:solidFill>
          <a:ln/>
        </p:spPr>
      </p:sp>
      <p:pic>
        <p:nvPicPr>
          <p:cNvPr id="2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96328" y="4855464"/>
            <a:ext cx="219456" cy="219456"/>
          </a:xfrm>
          <a:prstGeom prst="rect">
            <a:avLst/>
          </a:prstGeom>
        </p:spPr>
      </p:pic>
      <p:sp>
        <p:nvSpPr>
          <p:cNvPr id="28" name="Text 24"/>
          <p:cNvSpPr/>
          <p:nvPr/>
        </p:nvSpPr>
        <p:spPr>
          <a:xfrm>
            <a:off x="7680960" y="4736592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92400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工程挑戰</a:t>
            </a:r>
            <a:endParaRPr lang="en-US" sz="1400" dirty="0"/>
          </a:p>
        </p:txBody>
      </p:sp>
      <p:sp>
        <p:nvSpPr>
          <p:cNvPr id="29" name="Text 25"/>
          <p:cNvSpPr/>
          <p:nvPr/>
        </p:nvSpPr>
        <p:spPr>
          <a:xfrm>
            <a:off x="7077456" y="5230368"/>
            <a:ext cx="4572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2400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商用晶片的原始相位含隨機硬體誤差(CFO / SFO),每個封包都不同 → 必須先做訊號清理才能用。</a:t>
            </a:r>
            <a:endParaRPr lang="en-US" sz="1200" dirty="0"/>
          </a:p>
        </p:txBody>
      </p:sp>
      <p:sp>
        <p:nvSpPr>
          <p:cNvPr id="30" name="Text 26"/>
          <p:cNvSpPr/>
          <p:nvPr/>
        </p:nvSpPr>
        <p:spPr>
          <a:xfrm>
            <a:off x="548640" y="6455664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RuView · WiFi-DensePose</a:t>
            </a:r>
            <a:endParaRPr lang="en-US" sz="900" dirty="0"/>
          </a:p>
        </p:txBody>
      </p:sp>
      <p:sp>
        <p:nvSpPr>
          <p:cNvPr id="31" name="Text 27"/>
          <p:cNvSpPr/>
          <p:nvPr/>
        </p:nvSpPr>
        <p:spPr>
          <a:xfrm>
            <a:off x="10271455" y="645566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06 / 17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20624"/>
            <a:ext cx="841248" cy="841248"/>
          </a:xfrm>
          <a:prstGeom prst="roundRect">
            <a:avLst>
              <a:gd name="adj" fmla="val 13043"/>
            </a:avLst>
          </a:prstGeom>
          <a:solidFill>
            <a:srgbClr val="22D3EE"/>
          </a:solidFill>
          <a:ln/>
          <a:effectLst>
            <a:outerShdw sx="100000" sy="100000" kx="0" ky="0" algn="bl" rotWithShape="0" blurRad="88900" dist="38100" dir="8100000">
              <a:srgbClr val="0A1A2F">
                <a:alpha val="16000"/>
              </a:srgbClr>
            </a:outerShdw>
          </a:effectLst>
        </p:spPr>
      </p:sp>
      <p:sp>
        <p:nvSpPr>
          <p:cNvPr id="3" name="Text 1"/>
          <p:cNvSpPr/>
          <p:nvPr/>
        </p:nvSpPr>
        <p:spPr>
          <a:xfrm>
            <a:off x="548640" y="420624"/>
            <a:ext cx="841248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A1A2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2.2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572768" y="402336"/>
            <a:ext cx="9997135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A1A2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工作原理(二):端到端訊號處理流程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1591056" y="987552"/>
            <a:ext cx="9997135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0EA5B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nexmon 擷取 → 正規化 → 把關 → 6 大 SOTA 演算法 → 推論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548640" y="1481328"/>
            <a:ext cx="1627632" cy="749808"/>
          </a:xfrm>
          <a:prstGeom prst="roundRect">
            <a:avLst>
              <a:gd name="adj" fmla="val 9756"/>
            </a:avLst>
          </a:prstGeom>
          <a:solidFill>
            <a:srgbClr val="0A1A2F"/>
          </a:solidFill>
          <a:ln/>
          <a:effectLst>
            <a:outerShdw sx="100000" sy="100000" kx="0" ky="0" algn="bl" rotWithShape="0" blurRad="88900" dist="38100" dir="8100000">
              <a:srgbClr val="0A1A2F">
                <a:alpha val="16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85216" y="1481328"/>
            <a:ext cx="15544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00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nexmon</a:t>
            </a:r>
            <a:endParaRPr lang="en-US" sz="1050" dirty="0"/>
          </a:p>
          <a:p>
            <a:pPr algn="ctr" indent="0" marL="0">
              <a:lnSpc>
                <a:spcPct val="900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CSI 擷取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2157984" y="1481328"/>
            <a:ext cx="283464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EA5B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›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2423160" y="1481328"/>
            <a:ext cx="1627632" cy="749808"/>
          </a:xfrm>
          <a:prstGeom prst="roundRect">
            <a:avLst>
              <a:gd name="adj" fmla="val 9756"/>
            </a:avLst>
          </a:prstGeom>
          <a:solidFill>
            <a:srgbClr val="0A1A2F"/>
          </a:solidFill>
          <a:ln/>
          <a:effectLst>
            <a:outerShdw sx="100000" sy="100000" kx="0" ky="0" algn="bl" rotWithShape="0" blurRad="88900" dist="38100" dir="8100000">
              <a:srgbClr val="0A1A2F">
                <a:alpha val="16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2459736" y="1481328"/>
            <a:ext cx="15544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00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rvCSI</a:t>
            </a:r>
            <a:endParaRPr lang="en-US" sz="1050" dirty="0"/>
          </a:p>
          <a:p>
            <a:pPr algn="ctr" indent="0" marL="0">
              <a:lnSpc>
                <a:spcPct val="900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正規化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4032504" y="1481328"/>
            <a:ext cx="283464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EA5B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›</a:t>
            </a:r>
            <a:endParaRPr lang="en-US" sz="2000" dirty="0"/>
          </a:p>
        </p:txBody>
      </p:sp>
      <p:sp>
        <p:nvSpPr>
          <p:cNvPr id="12" name="Shape 10"/>
          <p:cNvSpPr/>
          <p:nvPr/>
        </p:nvSpPr>
        <p:spPr>
          <a:xfrm>
            <a:off x="4297680" y="1481328"/>
            <a:ext cx="1627632" cy="749808"/>
          </a:xfrm>
          <a:prstGeom prst="roundRect">
            <a:avLst>
              <a:gd name="adj" fmla="val 9756"/>
            </a:avLst>
          </a:prstGeom>
          <a:solidFill>
            <a:srgbClr val="0A1A2F"/>
          </a:solidFill>
          <a:ln/>
          <a:effectLst>
            <a:outerShdw sx="100000" sy="100000" kx="0" ky="0" algn="bl" rotWithShape="0" blurRad="88900" dist="38100" dir="8100000">
              <a:srgbClr val="0A1A2F">
                <a:alpha val="16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334256" y="1481328"/>
            <a:ext cx="15544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00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品質</a:t>
            </a:r>
            <a:endParaRPr lang="en-US" sz="1050" dirty="0"/>
          </a:p>
          <a:p>
            <a:pPr algn="ctr" indent="0" marL="0">
              <a:lnSpc>
                <a:spcPct val="900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相干閘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5907024" y="1481328"/>
            <a:ext cx="283464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EA5B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›</a:t>
            </a:r>
            <a:endParaRPr lang="en-US" sz="2000" dirty="0"/>
          </a:p>
        </p:txBody>
      </p:sp>
      <p:sp>
        <p:nvSpPr>
          <p:cNvPr id="15" name="Shape 13"/>
          <p:cNvSpPr/>
          <p:nvPr/>
        </p:nvSpPr>
        <p:spPr>
          <a:xfrm>
            <a:off x="6172200" y="1481328"/>
            <a:ext cx="1627632" cy="749808"/>
          </a:xfrm>
          <a:prstGeom prst="roundRect">
            <a:avLst>
              <a:gd name="adj" fmla="val 9756"/>
            </a:avLst>
          </a:prstGeom>
          <a:solidFill>
            <a:srgbClr val="22D3EE"/>
          </a:solidFill>
          <a:ln/>
          <a:effectLst>
            <a:outerShdw sx="100000" sy="100000" kx="0" ky="0" algn="bl" rotWithShape="0" blurRad="88900" dist="38100" dir="8100000">
              <a:srgbClr val="0A1A2F">
                <a:alpha val="16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6208776" y="1481328"/>
            <a:ext cx="15544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0000"/>
              </a:lnSpc>
              <a:buNone/>
            </a:pPr>
            <a:r>
              <a:rPr lang="en-US" sz="1050" b="1" dirty="0">
                <a:solidFill>
                  <a:srgbClr val="0A1A2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DSP × 6</a:t>
            </a:r>
            <a:endParaRPr lang="en-US" sz="1050" dirty="0"/>
          </a:p>
          <a:p>
            <a:pPr algn="ctr" indent="0" marL="0">
              <a:lnSpc>
                <a:spcPct val="90000"/>
              </a:lnSpc>
              <a:buNone/>
            </a:pPr>
            <a:r>
              <a:rPr lang="en-US" sz="1050" b="1" dirty="0">
                <a:solidFill>
                  <a:srgbClr val="0A1A2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SOTA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7781544" y="1481328"/>
            <a:ext cx="283464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EA5B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›</a:t>
            </a:r>
            <a:endParaRPr lang="en-US" sz="2000" dirty="0"/>
          </a:p>
        </p:txBody>
      </p:sp>
      <p:sp>
        <p:nvSpPr>
          <p:cNvPr id="18" name="Shape 16"/>
          <p:cNvSpPr/>
          <p:nvPr/>
        </p:nvSpPr>
        <p:spPr>
          <a:xfrm>
            <a:off x="8046720" y="1481328"/>
            <a:ext cx="1627632" cy="749808"/>
          </a:xfrm>
          <a:prstGeom prst="roundRect">
            <a:avLst>
              <a:gd name="adj" fmla="val 9756"/>
            </a:avLst>
          </a:prstGeom>
          <a:solidFill>
            <a:srgbClr val="0A1A2F"/>
          </a:solidFill>
          <a:ln/>
          <a:effectLst>
            <a:outerShdw sx="100000" sy="100000" kx="0" ky="0" algn="bl" rotWithShape="0" blurRad="88900" dist="38100" dir="8100000">
              <a:srgbClr val="0A1A2F">
                <a:alpha val="16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8083296" y="1481328"/>
            <a:ext cx="15544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00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模型推論</a:t>
            </a:r>
            <a:endParaRPr lang="en-US" sz="1050" dirty="0"/>
          </a:p>
          <a:p>
            <a:pPr algn="ctr" indent="0" marL="0">
              <a:lnSpc>
                <a:spcPct val="900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Candle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9656064" y="1481328"/>
            <a:ext cx="283464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EA5B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›</a:t>
            </a:r>
            <a:endParaRPr lang="en-US" sz="2000" dirty="0"/>
          </a:p>
        </p:txBody>
      </p:sp>
      <p:sp>
        <p:nvSpPr>
          <p:cNvPr id="21" name="Shape 19"/>
          <p:cNvSpPr/>
          <p:nvPr/>
        </p:nvSpPr>
        <p:spPr>
          <a:xfrm>
            <a:off x="9921240" y="1481328"/>
            <a:ext cx="1627632" cy="749808"/>
          </a:xfrm>
          <a:prstGeom prst="roundRect">
            <a:avLst>
              <a:gd name="adj" fmla="val 9756"/>
            </a:avLst>
          </a:prstGeom>
          <a:solidFill>
            <a:srgbClr val="0A1A2F"/>
          </a:solidFill>
          <a:ln/>
          <a:effectLst>
            <a:outerShdw sx="100000" sy="100000" kx="0" ky="0" algn="bl" rotWithShape="0" blurRad="88900" dist="38100" dir="8100000">
              <a:srgbClr val="0A1A2F">
                <a:alpha val="16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9957816" y="1481328"/>
            <a:ext cx="15544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00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輸出</a:t>
            </a:r>
            <a:endParaRPr lang="en-US" sz="1050" dirty="0"/>
          </a:p>
          <a:p>
            <a:pPr algn="ctr" indent="0" marL="0">
              <a:lnSpc>
                <a:spcPct val="900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姿態+生命徵象</a:t>
            </a:r>
            <a:endParaRPr lang="en-US" sz="105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2542032"/>
          <a:ext cx="11094415" cy="914400"/>
        </p:xfrm>
        <a:graphic>
          <a:graphicData uri="http://schemas.openxmlformats.org/drawingml/2006/table">
            <a:tbl>
              <a:tblPr/>
              <a:tblGrid>
                <a:gridCol w="3017520"/>
                <a:gridCol w="5852160"/>
                <a:gridCol w="2221992"/>
              </a:tblGrid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訊號處理演算法</a:t>
                      </a:r>
                      <a:endParaRPr lang="en-US" sz="13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A2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作用</a:t>
                      </a:r>
                      <a:endParaRPr lang="en-US" sz="13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A2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出處論文</a:t>
                      </a:r>
                      <a:endParaRPr lang="en-US" sz="13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A2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1E293B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共軛相乘 (CSI Ratio)</a:t>
                      </a:r>
                      <a:endParaRPr lang="en-US" sz="12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E293B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消除 CFO / SFO 硬體相位誤差</a:t>
                      </a:r>
                      <a:endParaRPr lang="en-US" sz="12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0EA5B5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SpotFi</a:t>
                      </a:r>
                      <a:endParaRPr lang="en-US" sz="12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1E293B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Hampel 濾波</a:t>
                      </a:r>
                      <a:endParaRPr lang="en-US" sz="12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E293B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抗 50% 污染的離群值移除</a:t>
                      </a:r>
                      <a:endParaRPr lang="en-US" sz="12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0EA5B5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WiDance</a:t>
                      </a:r>
                      <a:endParaRPr lang="en-US" sz="12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1E293B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Fresnel 區模型</a:t>
                      </a:r>
                      <a:endParaRPr lang="en-US" sz="12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E293B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依 TX-人體-RX 幾何預測呼吸</a:t>
                      </a:r>
                      <a:endParaRPr lang="en-US" sz="12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0EA5B5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FarSense</a:t>
                      </a:r>
                      <a:endParaRPr lang="en-US" sz="12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1E293B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STFT 頻譜圖</a:t>
                      </a:r>
                      <a:endParaRPr lang="en-US" sz="12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E293B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時頻分析(呼吸帶 / 走路帶)</a:t>
                      </a:r>
                      <a:endParaRPr lang="en-US" sz="12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64748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—</a:t>
                      </a:r>
                      <a:endParaRPr lang="en-US" sz="12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1E293B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子載波敏感度選擇</a:t>
                      </a:r>
                      <a:endParaRPr lang="en-US" sz="12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E293B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選最佳子載波,SNR +6–10 dB</a:t>
                      </a:r>
                      <a:endParaRPr lang="en-US" sz="12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0EA5B5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WiDance</a:t>
                      </a:r>
                      <a:endParaRPr lang="en-US" sz="12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1E293B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身體速度分布 (BVP)</a:t>
                      </a:r>
                      <a:endParaRPr lang="en-US" sz="12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E293B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域獨立 → 跨環境辨識基礎</a:t>
                      </a:r>
                      <a:endParaRPr lang="en-US" sz="12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0EA5B5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Widar 3.0</a:t>
                      </a:r>
                      <a:endParaRPr lang="en-US" sz="12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  <p:sp>
        <p:nvSpPr>
          <p:cNvPr id="24" name="Text 21"/>
          <p:cNvSpPr/>
          <p:nvPr/>
        </p:nvSpPr>
        <p:spPr>
          <a:xfrm>
            <a:off x="548640" y="5943600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A1A2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輕量管線:</a:t>
            </a:r>
            <a:pPr algn="ctr" indent="0" marL="0">
              <a:buNone/>
            </a:pPr>
            <a:r>
              <a:rPr lang="en-US" sz="1250" dirty="0">
                <a:solidFill>
                  <a:srgbClr val="1E293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nexmon 擷取 → rvCSI → 訊號處理 → Candle 推論,</a:t>
            </a:r>
            <a:pPr algn="ctr" indent="0" marL="0">
              <a:buNone/>
            </a:pPr>
            <a:r>
              <a:rPr lang="en-US" sz="1250" b="1" dirty="0">
                <a:solidFill>
                  <a:srgbClr val="0EA5B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全在單台 Pi 4 上即時完成(無多節點融合開銷)</a:t>
            </a:r>
            <a:endParaRPr lang="en-US" sz="1250" dirty="0"/>
          </a:p>
        </p:txBody>
      </p:sp>
      <p:sp>
        <p:nvSpPr>
          <p:cNvPr id="25" name="Text 22"/>
          <p:cNvSpPr/>
          <p:nvPr/>
        </p:nvSpPr>
        <p:spPr>
          <a:xfrm>
            <a:off x="548640" y="6455664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RuView · WiFi-DensePose</a:t>
            </a:r>
            <a:endParaRPr lang="en-US" sz="900" dirty="0"/>
          </a:p>
        </p:txBody>
      </p:sp>
      <p:sp>
        <p:nvSpPr>
          <p:cNvPr id="26" name="Text 23"/>
          <p:cNvSpPr/>
          <p:nvPr/>
        </p:nvSpPr>
        <p:spPr>
          <a:xfrm>
            <a:off x="10271455" y="645566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07 / 17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20624"/>
            <a:ext cx="841248" cy="841248"/>
          </a:xfrm>
          <a:prstGeom prst="roundRect">
            <a:avLst>
              <a:gd name="adj" fmla="val 13043"/>
            </a:avLst>
          </a:prstGeom>
          <a:solidFill>
            <a:srgbClr val="22D3EE"/>
          </a:solidFill>
          <a:ln/>
          <a:effectLst>
            <a:outerShdw sx="100000" sy="100000" kx="0" ky="0" algn="bl" rotWithShape="0" blurRad="88900" dist="38100" dir="8100000">
              <a:srgbClr val="0A1A2F">
                <a:alpha val="16000"/>
              </a:srgbClr>
            </a:outerShdw>
          </a:effectLst>
        </p:spPr>
      </p:sp>
      <p:sp>
        <p:nvSpPr>
          <p:cNvPr id="3" name="Text 1"/>
          <p:cNvSpPr/>
          <p:nvPr/>
        </p:nvSpPr>
        <p:spPr>
          <a:xfrm>
            <a:off x="548640" y="420624"/>
            <a:ext cx="841248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A1A2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2.3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572768" y="402336"/>
            <a:ext cx="9997135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A1A2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資料集建立方式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1591056" y="987552"/>
            <a:ext cx="9997135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0EA5B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公開資料集 bootstrap + 相機自監督配對 + 合成資料</a:t>
            </a:r>
            <a:endParaRPr lang="en-US" sz="135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572768"/>
          <a:ext cx="6675120" cy="914400"/>
        </p:xfrm>
        <a:graphic>
          <a:graphicData uri="http://schemas.openxmlformats.org/drawingml/2006/table">
            <a:tbl>
              <a:tblPr/>
              <a:tblGrid>
                <a:gridCol w="1188720"/>
                <a:gridCol w="3017520"/>
                <a:gridCol w="2468880"/>
              </a:tblGrid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12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A2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MM-Fi(主)</a:t>
                      </a:r>
                      <a:endParaRPr lang="en-US" sz="12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A2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Wi-Pose(次)</a:t>
                      </a:r>
                      <a:endParaRPr lang="en-US" sz="12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A2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1E293B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出處</a:t>
                      </a:r>
                      <a:endParaRPr lang="en-US" sz="11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E293B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NeurIPS 2023</a:t>
                      </a:r>
                      <a:endParaRPr lang="en-US" sz="11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E293B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MDPI Entropy 2023</a:t>
                      </a:r>
                      <a:endParaRPr lang="en-US" sz="11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1E293B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規模</a:t>
                      </a:r>
                      <a:endParaRPr lang="en-US" sz="11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E293B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40 人 × 27 動作 × ~320K 幀</a:t>
                      </a:r>
                      <a:endParaRPr lang="en-US" sz="11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E293B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12 人 × 12 動作 × 166,600 封包</a:t>
                      </a:r>
                      <a:endParaRPr lang="en-US" sz="11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1E293B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模態</a:t>
                      </a:r>
                      <a:endParaRPr lang="en-US" sz="11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E293B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CSI + mmWave + LiDAR + RGB-D</a:t>
                      </a:r>
                      <a:endParaRPr lang="en-US" sz="11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E293B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僅 CSI</a:t>
                      </a:r>
                      <a:endParaRPr lang="en-US" sz="11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1E293B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CSI 規格</a:t>
                      </a:r>
                      <a:endParaRPr lang="en-US" sz="11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E293B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1T×3R,114 子載波</a:t>
                      </a:r>
                      <a:endParaRPr lang="en-US" sz="11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E293B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3T×3R,30 子載波</a:t>
                      </a:r>
                      <a:endParaRPr lang="en-US" sz="11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1E293B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標註</a:t>
                      </a:r>
                      <a:endParaRPr lang="en-US" sz="11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E293B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17 COCO + DensePose UV</a:t>
                      </a:r>
                      <a:endParaRPr lang="en-US" sz="11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E293B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18 keypoint</a:t>
                      </a:r>
                      <a:endParaRPr lang="en-US" sz="11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7360920" y="1572768"/>
            <a:ext cx="4282135" cy="2331720"/>
          </a:xfrm>
          <a:prstGeom prst="roundRect">
            <a:avLst>
              <a:gd name="adj" fmla="val 3137"/>
            </a:avLst>
          </a:prstGeom>
          <a:solidFill>
            <a:srgbClr val="0A1A2F"/>
          </a:solidFill>
          <a:ln/>
          <a:effectLst>
            <a:outerShdw sx="100000" sy="100000" kx="0" ky="0" algn="bl" rotWithShape="0" blurRad="88900" dist="38100" dir="8100000">
              <a:srgbClr val="0A1A2F">
                <a:alpha val="16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7598664" y="1773936"/>
            <a:ext cx="493776" cy="493776"/>
          </a:xfrm>
          <a:prstGeom prst="ellipse">
            <a:avLst/>
          </a:prstGeom>
          <a:solidFill>
            <a:srgbClr val="22D3EE"/>
          </a:solidFill>
          <a:ln/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27046" y="1902318"/>
            <a:ext cx="237012" cy="237012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8202168" y="1773936"/>
            <a:ext cx="3276295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2D3E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自建:相機 Ground-Truth 配對</a:t>
            </a:r>
            <a:endParaRPr lang="en-US" sz="1350" dirty="0"/>
          </a:p>
        </p:txBody>
      </p:sp>
      <p:sp>
        <p:nvSpPr>
          <p:cNvPr id="11" name="Text 7"/>
          <p:cNvSpPr/>
          <p:nvPr/>
        </p:nvSpPr>
        <p:spPr>
          <a:xfrm>
            <a:off x="7635240" y="2286000"/>
            <a:ext cx="3779215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E2E8F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webcam → MediaPipe(33 點)→ 17 COCO 當「教師訊號」</a:t>
            </a:r>
            <a:endParaRPr lang="en-US" sz="11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E2E8F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200 ms 時間窗對齊 CSI 與相機</a:t>
            </a:r>
            <a:endParaRPr lang="en-US" sz="11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b="1" dirty="0">
                <a:solidFill>
                  <a:srgbClr val="22D3E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相機只用於訓練,部署時完全移除</a:t>
            </a:r>
            <a:endParaRPr lang="en-US" sz="11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E2E8F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🔒 原始影像永不存檔,只存關節座標</a:t>
            </a:r>
            <a:endParaRPr lang="en-US" sz="1150" dirty="0"/>
          </a:p>
        </p:txBody>
      </p:sp>
      <p:sp>
        <p:nvSpPr>
          <p:cNvPr id="12" name="Shape 8"/>
          <p:cNvSpPr/>
          <p:nvPr/>
        </p:nvSpPr>
        <p:spPr>
          <a:xfrm>
            <a:off x="548640" y="4526280"/>
            <a:ext cx="6675120" cy="1508760"/>
          </a:xfrm>
          <a:prstGeom prst="roundRect">
            <a:avLst>
              <a:gd name="adj" fmla="val 4848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38100" dir="8100000">
              <a:srgbClr val="0A1A2F">
                <a:alpha val="16000"/>
              </a:srgbClr>
            </a:outerShdw>
          </a:effectLst>
        </p:spPr>
      </p:sp>
      <p:sp>
        <p:nvSpPr>
          <p:cNvPr id="13" name="Text 9"/>
          <p:cNvSpPr/>
          <p:nvPr/>
        </p:nvSpPr>
        <p:spPr>
          <a:xfrm>
            <a:off x="804672" y="4663440"/>
            <a:ext cx="6126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A1A2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自監督 / 合成資料</a:t>
            </a:r>
            <a:endParaRPr lang="en-US" sz="1300" dirty="0"/>
          </a:p>
        </p:txBody>
      </p:sp>
      <p:sp>
        <p:nvSpPr>
          <p:cNvPr id="14" name="Text 10"/>
          <p:cNvSpPr/>
          <p:nvPr/>
        </p:nvSpPr>
        <p:spPr>
          <a:xfrm>
            <a:off x="822960" y="5029200"/>
            <a:ext cx="63093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1E293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整夜真實採集 → 60,630 樣本 → 610K 對比三元組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1E293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確定性合成 CSI(seed=42)→ SHA-256 可重現驗證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1E293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前處理:逐幀 z-score、子載波統一內插到 56、相位淨化</a:t>
            </a:r>
            <a:endParaRPr lang="en-US" sz="1150" dirty="0"/>
          </a:p>
        </p:txBody>
      </p:sp>
      <p:sp>
        <p:nvSpPr>
          <p:cNvPr id="15" name="Shape 11"/>
          <p:cNvSpPr/>
          <p:nvPr/>
        </p:nvSpPr>
        <p:spPr>
          <a:xfrm>
            <a:off x="7360920" y="4526280"/>
            <a:ext cx="2049628" cy="1508760"/>
          </a:xfrm>
          <a:prstGeom prst="roundRect">
            <a:avLst>
              <a:gd name="adj" fmla="val 4848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38100" dir="8100000">
              <a:srgbClr val="0A1A2F">
                <a:alpha val="16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7360920" y="5971032"/>
            <a:ext cx="2049628" cy="64008"/>
          </a:xfrm>
          <a:prstGeom prst="rect">
            <a:avLst/>
          </a:prstGeom>
          <a:solidFill>
            <a:srgbClr val="0EA5B5"/>
          </a:solidFill>
          <a:ln/>
        </p:spPr>
      </p:sp>
      <p:sp>
        <p:nvSpPr>
          <p:cNvPr id="17" name="Text 13"/>
          <p:cNvSpPr/>
          <p:nvPr/>
        </p:nvSpPr>
        <p:spPr>
          <a:xfrm>
            <a:off x="7452360" y="4636008"/>
            <a:ext cx="1866748" cy="78455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700" b="1" dirty="0">
                <a:solidFill>
                  <a:srgbClr val="0EA5B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60,630</a:t>
            </a:r>
            <a:endParaRPr lang="en-US" sz="2700" dirty="0"/>
          </a:p>
        </p:txBody>
      </p:sp>
      <p:sp>
        <p:nvSpPr>
          <p:cNvPr id="18" name="Text 14"/>
          <p:cNvSpPr/>
          <p:nvPr/>
        </p:nvSpPr>
        <p:spPr>
          <a:xfrm>
            <a:off x="7452360" y="5431536"/>
            <a:ext cx="1866748" cy="48280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真實樣本</a:t>
            </a:r>
            <a:endParaRPr lang="en-US" sz="1100" dirty="0"/>
          </a:p>
        </p:txBody>
      </p:sp>
      <p:sp>
        <p:nvSpPr>
          <p:cNvPr id="19" name="Shape 15"/>
          <p:cNvSpPr/>
          <p:nvPr/>
        </p:nvSpPr>
        <p:spPr>
          <a:xfrm>
            <a:off x="9593428" y="4526280"/>
            <a:ext cx="2049628" cy="1508760"/>
          </a:xfrm>
          <a:prstGeom prst="roundRect">
            <a:avLst>
              <a:gd name="adj" fmla="val 4848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38100" dir="8100000">
              <a:srgbClr val="0A1A2F">
                <a:alpha val="16000"/>
              </a:srgbClr>
            </a:outerShdw>
          </a:effectLst>
        </p:spPr>
      </p:sp>
      <p:sp>
        <p:nvSpPr>
          <p:cNvPr id="20" name="Shape 16"/>
          <p:cNvSpPr/>
          <p:nvPr/>
        </p:nvSpPr>
        <p:spPr>
          <a:xfrm>
            <a:off x="9593428" y="5971032"/>
            <a:ext cx="2049628" cy="64008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21" name="Text 17"/>
          <p:cNvSpPr/>
          <p:nvPr/>
        </p:nvSpPr>
        <p:spPr>
          <a:xfrm>
            <a:off x="9684868" y="4636008"/>
            <a:ext cx="1866748" cy="78455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700" b="1" dirty="0">
                <a:solidFill>
                  <a:srgbClr val="3B82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610K</a:t>
            </a:r>
            <a:endParaRPr lang="en-US" sz="2700" dirty="0"/>
          </a:p>
        </p:txBody>
      </p:sp>
      <p:sp>
        <p:nvSpPr>
          <p:cNvPr id="22" name="Text 18"/>
          <p:cNvSpPr/>
          <p:nvPr/>
        </p:nvSpPr>
        <p:spPr>
          <a:xfrm>
            <a:off x="9684868" y="5431536"/>
            <a:ext cx="1866748" cy="48280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對比三元組</a:t>
            </a:r>
            <a:endParaRPr lang="en-US" sz="1100" dirty="0"/>
          </a:p>
        </p:txBody>
      </p:sp>
      <p:sp>
        <p:nvSpPr>
          <p:cNvPr id="23" name="Text 19"/>
          <p:cNvSpPr/>
          <p:nvPr/>
        </p:nvSpPr>
        <p:spPr>
          <a:xfrm>
            <a:off x="548640" y="6455664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RuView · WiFi-DensePose</a:t>
            </a:r>
            <a:endParaRPr lang="en-US" sz="900" dirty="0"/>
          </a:p>
        </p:txBody>
      </p:sp>
      <p:sp>
        <p:nvSpPr>
          <p:cNvPr id="24" name="Text 20"/>
          <p:cNvSpPr/>
          <p:nvPr/>
        </p:nvSpPr>
        <p:spPr>
          <a:xfrm>
            <a:off x="10271455" y="645566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08 / 17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20624"/>
            <a:ext cx="841248" cy="841248"/>
          </a:xfrm>
          <a:prstGeom prst="roundRect">
            <a:avLst>
              <a:gd name="adj" fmla="val 13043"/>
            </a:avLst>
          </a:prstGeom>
          <a:solidFill>
            <a:srgbClr val="22D3EE"/>
          </a:solidFill>
          <a:ln/>
          <a:effectLst>
            <a:outerShdw sx="100000" sy="100000" kx="0" ky="0" algn="bl" rotWithShape="0" blurRad="88900" dist="38100" dir="8100000">
              <a:srgbClr val="0A1A2F">
                <a:alpha val="16000"/>
              </a:srgbClr>
            </a:outerShdw>
          </a:effectLst>
        </p:spPr>
      </p:sp>
      <p:sp>
        <p:nvSpPr>
          <p:cNvPr id="3" name="Text 1"/>
          <p:cNvSpPr/>
          <p:nvPr/>
        </p:nvSpPr>
        <p:spPr>
          <a:xfrm>
            <a:off x="548640" y="420624"/>
            <a:ext cx="841248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A1A2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2.4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572768" y="402336"/>
            <a:ext cx="9997135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A1A2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模型選用與訓練(一):模型架構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1591056" y="987552"/>
            <a:ext cx="9997135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0EA5B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AETHER 對比式 CSI 編碼器 — 一次前向、雙輸出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548640" y="2286000"/>
            <a:ext cx="1737360" cy="914400"/>
          </a:xfrm>
          <a:prstGeom prst="roundRect">
            <a:avLst>
              <a:gd name="adj" fmla="val 8000"/>
            </a:avLst>
          </a:prstGeom>
          <a:solidFill>
            <a:srgbClr val="0A1A2F"/>
          </a:solidFill>
          <a:ln/>
          <a:effectLst>
            <a:outerShdw sx="100000" sy="100000" kx="0" ky="0" algn="bl" rotWithShape="0" blurRad="88900" dist="38100" dir="8100000">
              <a:srgbClr val="0A1A2F">
                <a:alpha val="16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48640" y="2286000"/>
            <a:ext cx="1737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CSI 輸入</a:t>
            </a:r>
            <a:endParaRPr lang="en-US" sz="13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56 維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2286000" y="2286000"/>
            <a:ext cx="457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EA5B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›</a:t>
            </a:r>
            <a:endParaRPr lang="en-US" sz="2400" dirty="0"/>
          </a:p>
        </p:txBody>
      </p:sp>
      <p:sp>
        <p:nvSpPr>
          <p:cNvPr id="9" name="Shape 7"/>
          <p:cNvSpPr/>
          <p:nvPr/>
        </p:nvSpPr>
        <p:spPr>
          <a:xfrm>
            <a:off x="2788920" y="2286000"/>
            <a:ext cx="3200400" cy="914400"/>
          </a:xfrm>
          <a:prstGeom prst="roundRect">
            <a:avLst>
              <a:gd name="adj" fmla="val 8000"/>
            </a:avLst>
          </a:prstGeom>
          <a:solidFill>
            <a:srgbClr val="0EA5B5"/>
          </a:solidFill>
          <a:ln/>
          <a:effectLst>
            <a:outerShdw sx="100000" sy="100000" kx="0" ky="0" algn="bl" rotWithShape="0" blurRad="88900" dist="38100" dir="8100000">
              <a:srgbClr val="0A1A2F">
                <a:alpha val="16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2788920" y="2286000"/>
            <a:ext cx="3200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共享 Backbone</a:t>
            </a:r>
            <a:endParaRPr lang="en-US" sz="140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ECFE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Transformer + 交叉注意力 + GNN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5989320" y="2286000"/>
            <a:ext cx="457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EA5B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›</a:t>
            </a:r>
            <a:endParaRPr lang="en-US" sz="2400" dirty="0"/>
          </a:p>
        </p:txBody>
      </p:sp>
      <p:sp>
        <p:nvSpPr>
          <p:cNvPr id="12" name="Shape 10"/>
          <p:cNvSpPr/>
          <p:nvPr/>
        </p:nvSpPr>
        <p:spPr>
          <a:xfrm>
            <a:off x="6537960" y="1828800"/>
            <a:ext cx="2743200" cy="841248"/>
          </a:xfrm>
          <a:prstGeom prst="roundRect">
            <a:avLst>
              <a:gd name="adj" fmla="val 8696"/>
            </a:avLst>
          </a:prstGeom>
          <a:solidFill>
            <a:srgbClr val="3B82F6"/>
          </a:solidFill>
          <a:ln/>
          <a:effectLst>
            <a:outerShdw sx="100000" sy="100000" kx="0" ky="0" algn="bl" rotWithShape="0" blurRad="88900" dist="38100" dir="8100000">
              <a:srgbClr val="0A1A2F">
                <a:alpha val="16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6629400" y="1828800"/>
            <a:ext cx="260604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🦴 姿態頭  </a:t>
            </a:r>
            <a:pPr indent="0" marL="0">
              <a:buNone/>
            </a:pPr>
            <a:r>
              <a:rPr lang="en-US" sz="1100" dirty="0">
                <a:solidFill>
                  <a:srgbClr val="EFF6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→ 17 關鍵點 (x,y,z,信心)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6537960" y="2816352"/>
            <a:ext cx="2743200" cy="841248"/>
          </a:xfrm>
          <a:prstGeom prst="roundRect">
            <a:avLst>
              <a:gd name="adj" fmla="val 8696"/>
            </a:avLst>
          </a:prstGeom>
          <a:solidFill>
            <a:srgbClr val="8B5CF6"/>
          </a:solidFill>
          <a:ln/>
          <a:effectLst>
            <a:outerShdw sx="100000" sy="100000" kx="0" ky="0" algn="bl" rotWithShape="0" blurRad="88900" dist="38100" dir="8100000">
              <a:srgbClr val="0A1A2F">
                <a:alpha val="16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6629400" y="2816352"/>
            <a:ext cx="260604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🧬 嵌入頭  </a:t>
            </a:r>
            <a:pPr indent="0" marL="0">
              <a:buNone/>
            </a:pPr>
            <a:r>
              <a:rPr lang="en-US" sz="1100" dirty="0">
                <a:solidFill>
                  <a:srgbClr val="F5F3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→ 128 維環境指紋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6446520" y="2249424"/>
            <a:ext cx="91440" cy="493776"/>
          </a:xfrm>
          <a:prstGeom prst="line">
            <a:avLst/>
          </a:prstGeom>
          <a:noFill/>
          <a:ln w="19050">
            <a:solidFill>
              <a:srgbClr val="0EA5B5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446520" y="2743200"/>
            <a:ext cx="91440" cy="493776"/>
          </a:xfrm>
          <a:prstGeom prst="line">
            <a:avLst/>
          </a:prstGeom>
          <a:noFill/>
          <a:ln w="19050">
            <a:solidFill>
              <a:srgbClr val="0EA5B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48640" y="3383280"/>
            <a:ext cx="8686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同一次前向運算同時產生兩種輸出(&lt; 2 ms)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9189720" y="1828800"/>
            <a:ext cx="1207008" cy="914400"/>
          </a:xfrm>
          <a:prstGeom prst="roundRect">
            <a:avLst>
              <a:gd name="adj" fmla="val 80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38100" dir="8100000">
              <a:srgbClr val="0A1A2F">
                <a:alpha val="16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9189720" y="2679192"/>
            <a:ext cx="1207008" cy="64008"/>
          </a:xfrm>
          <a:prstGeom prst="rect">
            <a:avLst/>
          </a:prstGeom>
          <a:solidFill>
            <a:srgbClr val="22D3EE"/>
          </a:solidFill>
          <a:ln/>
        </p:spPr>
      </p:sp>
      <p:sp>
        <p:nvSpPr>
          <p:cNvPr id="21" name="Text 19"/>
          <p:cNvSpPr/>
          <p:nvPr/>
        </p:nvSpPr>
        <p:spPr>
          <a:xfrm>
            <a:off x="9281160" y="1938528"/>
            <a:ext cx="102412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700" b="1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55K</a:t>
            </a:r>
            <a:endParaRPr lang="en-US" sz="2700" dirty="0"/>
          </a:p>
        </p:txBody>
      </p:sp>
      <p:sp>
        <p:nvSpPr>
          <p:cNvPr id="22" name="Text 20"/>
          <p:cNvSpPr/>
          <p:nvPr/>
        </p:nvSpPr>
        <p:spPr>
          <a:xfrm>
            <a:off x="9281160" y="2377440"/>
            <a:ext cx="10241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參數量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10469880" y="1828800"/>
            <a:ext cx="1170432" cy="914400"/>
          </a:xfrm>
          <a:prstGeom prst="roundRect">
            <a:avLst>
              <a:gd name="adj" fmla="val 80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38100" dir="8100000">
              <a:srgbClr val="0A1A2F">
                <a:alpha val="16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10469880" y="2679192"/>
            <a:ext cx="1170432" cy="64008"/>
          </a:xfrm>
          <a:prstGeom prst="rect">
            <a:avLst/>
          </a:prstGeom>
          <a:solidFill>
            <a:srgbClr val="0EA5B5"/>
          </a:solidFill>
          <a:ln/>
        </p:spPr>
      </p:sp>
      <p:sp>
        <p:nvSpPr>
          <p:cNvPr id="25" name="Text 23"/>
          <p:cNvSpPr/>
          <p:nvPr/>
        </p:nvSpPr>
        <p:spPr>
          <a:xfrm>
            <a:off x="10561320" y="1938528"/>
            <a:ext cx="9875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700" b="1" dirty="0">
                <a:solidFill>
                  <a:srgbClr val="0EA5B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55 KB</a:t>
            </a:r>
            <a:endParaRPr lang="en-US" sz="2700" dirty="0"/>
          </a:p>
        </p:txBody>
      </p:sp>
      <p:sp>
        <p:nvSpPr>
          <p:cNvPr id="26" name="Text 24"/>
          <p:cNvSpPr/>
          <p:nvPr/>
        </p:nvSpPr>
        <p:spPr>
          <a:xfrm>
            <a:off x="10561320" y="2377440"/>
            <a:ext cx="9875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INT8 大小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548640" y="4069080"/>
            <a:ext cx="5394960" cy="1920240"/>
          </a:xfrm>
          <a:prstGeom prst="roundRect">
            <a:avLst>
              <a:gd name="adj" fmla="val 381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38100" dir="8100000">
              <a:srgbClr val="0A1A2F">
                <a:alpha val="16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804672" y="4206240"/>
            <a:ext cx="4846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A1A2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姿態模型 WiFlow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822960" y="4572000"/>
            <a:ext cx="502920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TCN + 軸向注意力 + 姿態解碼器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1.8M 參數 → 4-bit 量化僅 881 KB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輸出 DensePose 24 區 UV 座標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6126480" y="4069080"/>
            <a:ext cx="5516575" cy="1920240"/>
          </a:xfrm>
          <a:prstGeom prst="roundRect">
            <a:avLst>
              <a:gd name="adj" fmla="val 3810"/>
            </a:avLst>
          </a:prstGeom>
          <a:solidFill>
            <a:srgbClr val="0A1A2F"/>
          </a:solidFill>
          <a:ln/>
          <a:effectLst>
            <a:outerShdw sx="100000" sy="100000" kx="0" ky="0" algn="bl" rotWithShape="0" blurRad="88900" dist="38100" dir="8100000">
              <a:srgbClr val="0A1A2F">
                <a:alpha val="16000"/>
              </a:srgbClr>
            </a:outerShdw>
          </a:effectLst>
        </p:spPr>
      </p:sp>
      <p:sp>
        <p:nvSpPr>
          <p:cNvPr id="31" name="Text 29"/>
          <p:cNvSpPr/>
          <p:nvPr/>
        </p:nvSpPr>
        <p:spPr>
          <a:xfrm>
            <a:off x="6382512" y="4206240"/>
            <a:ext cx="5120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2D3E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為何這樣設計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6400800" y="4572000"/>
            <a:ext cx="5013655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E2E8F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128 維是 SimCLR / CLIP 的標準嵌入維度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E2E8F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共享骨幹 → 一次運算同得姿態 + 指紋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E2E8F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遵循 CMU「DensePose From WiFi」架構家族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548640" y="6455664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RuView · WiFi-DensePose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10271455" y="645566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09 / 17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20624"/>
            <a:ext cx="841248" cy="841248"/>
          </a:xfrm>
          <a:prstGeom prst="roundRect">
            <a:avLst>
              <a:gd name="adj" fmla="val 13043"/>
            </a:avLst>
          </a:prstGeom>
          <a:solidFill>
            <a:srgbClr val="22D3EE"/>
          </a:solidFill>
          <a:ln/>
          <a:effectLst>
            <a:outerShdw sx="100000" sy="100000" kx="0" ky="0" algn="bl" rotWithShape="0" blurRad="88900" dist="38100" dir="8100000">
              <a:srgbClr val="0A1A2F">
                <a:alpha val="16000"/>
              </a:srgbClr>
            </a:outerShdw>
          </a:effectLst>
        </p:spPr>
      </p:sp>
      <p:sp>
        <p:nvSpPr>
          <p:cNvPr id="3" name="Text 1"/>
          <p:cNvSpPr/>
          <p:nvPr/>
        </p:nvSpPr>
        <p:spPr>
          <a:xfrm>
            <a:off x="548640" y="420624"/>
            <a:ext cx="841248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A1A2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2.4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572768" y="402336"/>
            <a:ext cx="9997135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A1A2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模型選用與訓練(二):訓練策略與量化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1591056" y="987552"/>
            <a:ext cx="9997135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0EA5B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三種訓練模式 + 邊緣量化,塞進 8 KB</a:t>
            </a:r>
            <a:endParaRPr lang="en-US" sz="135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572768"/>
          <a:ext cx="6675120" cy="914400"/>
        </p:xfrm>
        <a:graphic>
          <a:graphicData uri="http://schemas.openxmlformats.org/drawingml/2006/table">
            <a:tbl>
              <a:tblPr/>
              <a:tblGrid>
                <a:gridCol w="2286000"/>
                <a:gridCol w="2194560"/>
                <a:gridCol w="2194560"/>
              </a:tblGrid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訓練模式</a:t>
                      </a:r>
                      <a:endParaRPr lang="en-US" sz="12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A2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需要的資料</a:t>
                      </a:r>
                      <a:endParaRPr lang="en-US" sz="12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A2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得到的能力</a:t>
                      </a:r>
                      <a:endParaRPr lang="en-US" sz="12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A2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1E293B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自監督對比學習</a:t>
                      </a:r>
                      <a:endParaRPr lang="en-US" sz="12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僅原始 WiFi</a:t>
                      </a:r>
                      <a:endParaRPr lang="en-US" sz="12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懂 CSI 結構的 backbone</a:t>
                      </a:r>
                      <a:endParaRPr lang="en-US" sz="12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1E293B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監督式微調</a:t>
                      </a:r>
                      <a:endParaRPr lang="en-US" sz="12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WiFi + 姿態標籤</a:t>
                      </a:r>
                      <a:endParaRPr lang="en-US" sz="12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全身姿態 + 環境指紋</a:t>
                      </a:r>
                      <a:endParaRPr lang="en-US" sz="12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1E293B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跨模態</a:t>
                      </a:r>
                      <a:endParaRPr lang="en-US" sz="12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WiFi + 相機</a:t>
                      </a:r>
                      <a:endParaRPr lang="en-US" sz="12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與視覺對齊的指紋</a:t>
                      </a:r>
                      <a:endParaRPr lang="en-US" sz="12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548640" y="3310128"/>
            <a:ext cx="6675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A1A2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訓練技巧:</a:t>
            </a:r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Hard-negative mining(只挑最難負樣本)+ 課程學習(由易到難)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548640" y="3767328"/>
            <a:ext cx="6675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6474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訓練 / 適應速度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548640" y="4114800"/>
            <a:ext cx="2103120" cy="960120"/>
          </a:xfrm>
          <a:prstGeom prst="roundRect">
            <a:avLst>
              <a:gd name="adj" fmla="val 7619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38100" dir="8100000">
              <a:srgbClr val="0A1A2F">
                <a:alpha val="16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548640" y="5010912"/>
            <a:ext cx="2103120" cy="64008"/>
          </a:xfrm>
          <a:prstGeom prst="rect">
            <a:avLst/>
          </a:prstGeom>
          <a:solidFill>
            <a:srgbClr val="22D3EE"/>
          </a:solidFill>
          <a:ln/>
        </p:spPr>
      </p:sp>
      <p:sp>
        <p:nvSpPr>
          <p:cNvPr id="11" name="Text 8"/>
          <p:cNvSpPr/>
          <p:nvPr/>
        </p:nvSpPr>
        <p:spPr>
          <a:xfrm>
            <a:off x="640080" y="4224528"/>
            <a:ext cx="1920240" cy="4992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700" b="1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2.1 s</a:t>
            </a:r>
            <a:endParaRPr lang="en-US" sz="2700" dirty="0"/>
          </a:p>
        </p:txBody>
      </p:sp>
      <p:sp>
        <p:nvSpPr>
          <p:cNvPr id="12" name="Text 9"/>
          <p:cNvSpPr/>
          <p:nvPr/>
        </p:nvSpPr>
        <p:spPr>
          <a:xfrm>
            <a:off x="640080" y="4690872"/>
            <a:ext cx="1920240" cy="3072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RTX 5080 · 400 epoch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2834640" y="4114800"/>
            <a:ext cx="2103120" cy="960120"/>
          </a:xfrm>
          <a:prstGeom prst="roundRect">
            <a:avLst>
              <a:gd name="adj" fmla="val 7619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38100" dir="8100000">
              <a:srgbClr val="0A1A2F">
                <a:alpha val="16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2834640" y="5010912"/>
            <a:ext cx="2103120" cy="64008"/>
          </a:xfrm>
          <a:prstGeom prst="rect">
            <a:avLst/>
          </a:prstGeom>
          <a:solidFill>
            <a:srgbClr val="0EA5B5"/>
          </a:solidFill>
          <a:ln/>
        </p:spPr>
      </p:sp>
      <p:sp>
        <p:nvSpPr>
          <p:cNvPr id="15" name="Text 12"/>
          <p:cNvSpPr/>
          <p:nvPr/>
        </p:nvSpPr>
        <p:spPr>
          <a:xfrm>
            <a:off x="2926080" y="4224528"/>
            <a:ext cx="1920240" cy="4992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700" b="1" dirty="0">
                <a:solidFill>
                  <a:srgbClr val="0EA5B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84 s</a:t>
            </a:r>
            <a:endParaRPr lang="en-US" sz="2700" dirty="0"/>
          </a:p>
        </p:txBody>
      </p:sp>
      <p:sp>
        <p:nvSpPr>
          <p:cNvPr id="16" name="Text 13"/>
          <p:cNvSpPr/>
          <p:nvPr/>
        </p:nvSpPr>
        <p:spPr>
          <a:xfrm>
            <a:off x="2926080" y="4690872"/>
            <a:ext cx="1920240" cy="3072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M4 Pro 從零訓練</a:t>
            </a:r>
            <a:endParaRPr lang="en-US" sz="1100" dirty="0"/>
          </a:p>
        </p:txBody>
      </p:sp>
      <p:sp>
        <p:nvSpPr>
          <p:cNvPr id="17" name="Shape 14"/>
          <p:cNvSpPr/>
          <p:nvPr/>
        </p:nvSpPr>
        <p:spPr>
          <a:xfrm>
            <a:off x="5120640" y="4114800"/>
            <a:ext cx="2103120" cy="960120"/>
          </a:xfrm>
          <a:prstGeom prst="roundRect">
            <a:avLst>
              <a:gd name="adj" fmla="val 7619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38100" dir="8100000">
              <a:srgbClr val="0A1A2F">
                <a:alpha val="16000"/>
              </a:srgbClr>
            </a:outerShdw>
          </a:effectLst>
        </p:spPr>
      </p:sp>
      <p:sp>
        <p:nvSpPr>
          <p:cNvPr id="18" name="Shape 15"/>
          <p:cNvSpPr/>
          <p:nvPr/>
        </p:nvSpPr>
        <p:spPr>
          <a:xfrm>
            <a:off x="5120640" y="5010912"/>
            <a:ext cx="2103120" cy="64008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19" name="Text 16"/>
          <p:cNvSpPr/>
          <p:nvPr/>
        </p:nvSpPr>
        <p:spPr>
          <a:xfrm>
            <a:off x="5212080" y="4224528"/>
            <a:ext cx="1920240" cy="4992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700" b="1" dirty="0">
                <a:solidFill>
                  <a:srgbClr val="3B82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&lt;30 s</a:t>
            </a:r>
            <a:endParaRPr lang="en-US" sz="2700" dirty="0"/>
          </a:p>
        </p:txBody>
      </p:sp>
      <p:sp>
        <p:nvSpPr>
          <p:cNvPr id="20" name="Text 17"/>
          <p:cNvSpPr/>
          <p:nvPr/>
        </p:nvSpPr>
        <p:spPr>
          <a:xfrm>
            <a:off x="5212080" y="4690872"/>
            <a:ext cx="1920240" cy="3072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換新房間適應</a:t>
            </a:r>
            <a:endParaRPr lang="en-US" sz="1100" dirty="0"/>
          </a:p>
        </p:txBody>
      </p:sp>
      <p:sp>
        <p:nvSpPr>
          <p:cNvPr id="21" name="Shape 18"/>
          <p:cNvSpPr/>
          <p:nvPr/>
        </p:nvSpPr>
        <p:spPr>
          <a:xfrm>
            <a:off x="548640" y="5285232"/>
            <a:ext cx="6675120" cy="777240"/>
          </a:xfrm>
          <a:prstGeom prst="roundRect">
            <a:avLst>
              <a:gd name="adj" fmla="val 9412"/>
            </a:avLst>
          </a:prstGeom>
          <a:solidFill>
            <a:srgbClr val="0A1A2F"/>
          </a:solidFill>
          <a:ln/>
          <a:effectLst>
            <a:outerShdw sx="100000" sy="100000" kx="0" ky="0" algn="bl" rotWithShape="0" blurRad="88900" dist="38100" dir="8100000">
              <a:srgbClr val="0A1A2F">
                <a:alpha val="16000"/>
              </a:srgbClr>
            </a:outerShdw>
          </a:effectLst>
        </p:spPr>
      </p:sp>
      <p:sp>
        <p:nvSpPr>
          <p:cNvPr id="22" name="Text 19"/>
          <p:cNvSpPr/>
          <p:nvPr/>
        </p:nvSpPr>
        <p:spPr>
          <a:xfrm>
            <a:off x="822960" y="5285232"/>
            <a:ext cx="6217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2D3E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環境適應:</a:t>
            </a:r>
            <a:pPr indent="0" marL="0">
              <a:buNone/>
            </a:pPr>
            <a:r>
              <a:rPr lang="en-US" sz="1250" dirty="0">
                <a:solidFill>
                  <a:srgbClr val="E2E8F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每房間僅 1,792 參數 MicroLoRA(較重訓省 93%)+ EWC++ 防遺忘</a:t>
            </a:r>
            <a:endParaRPr lang="en-US" sz="1250" dirty="0"/>
          </a:p>
        </p:txBody>
      </p:sp>
      <p:sp>
        <p:nvSpPr>
          <p:cNvPr id="23" name="Shape 20"/>
          <p:cNvSpPr/>
          <p:nvPr/>
        </p:nvSpPr>
        <p:spPr>
          <a:xfrm>
            <a:off x="7360920" y="1572768"/>
            <a:ext cx="4282135" cy="3246120"/>
          </a:xfrm>
          <a:prstGeom prst="roundRect">
            <a:avLst>
              <a:gd name="adj" fmla="val 2254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38100" dir="8100000">
              <a:srgbClr val="0A1A2F">
                <a:alpha val="16000"/>
              </a:srgbClr>
            </a:outerShdw>
          </a:effectLst>
        </p:spPr>
      </p:sp>
      <p:sp>
        <p:nvSpPr>
          <p:cNvPr id="24" name="Text 21"/>
          <p:cNvSpPr/>
          <p:nvPr/>
        </p:nvSpPr>
        <p:spPr>
          <a:xfrm>
            <a:off x="7616952" y="1737360"/>
            <a:ext cx="382493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A1A2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邊緣量化(縮小模型)</a:t>
            </a:r>
            <a:endParaRPr lang="en-US" sz="1400" dirty="0"/>
          </a:p>
        </p:txBody>
      </p:sp>
      <p:sp>
        <p:nvSpPr>
          <p:cNvPr id="25" name="Shape 22"/>
          <p:cNvSpPr/>
          <p:nvPr/>
        </p:nvSpPr>
        <p:spPr>
          <a:xfrm>
            <a:off x="7616952" y="2212848"/>
            <a:ext cx="3770071" cy="5486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7772400" y="2212848"/>
            <a:ext cx="1783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E293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FP32 safetensors</a:t>
            </a:r>
            <a:endParaRPr lang="en-US" sz="1250" dirty="0"/>
          </a:p>
        </p:txBody>
      </p:sp>
      <p:sp>
        <p:nvSpPr>
          <p:cNvPr id="27" name="Text 24"/>
          <p:cNvSpPr/>
          <p:nvPr/>
        </p:nvSpPr>
        <p:spPr>
          <a:xfrm>
            <a:off x="9997135" y="2212848"/>
            <a:ext cx="1188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48 KB</a:t>
            </a:r>
            <a:endParaRPr lang="en-US" sz="1500" dirty="0"/>
          </a:p>
        </p:txBody>
      </p:sp>
      <p:sp>
        <p:nvSpPr>
          <p:cNvPr id="28" name="Shape 25"/>
          <p:cNvSpPr/>
          <p:nvPr/>
        </p:nvSpPr>
        <p:spPr>
          <a:xfrm>
            <a:off x="7616952" y="2843784"/>
            <a:ext cx="3770071" cy="5486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7772400" y="2843784"/>
            <a:ext cx="1783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E293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q8 (8-bit)</a:t>
            </a:r>
            <a:endParaRPr lang="en-US" sz="1250" dirty="0"/>
          </a:p>
        </p:txBody>
      </p:sp>
      <p:sp>
        <p:nvSpPr>
          <p:cNvPr id="30" name="Text 27"/>
          <p:cNvSpPr/>
          <p:nvPr/>
        </p:nvSpPr>
        <p:spPr>
          <a:xfrm>
            <a:off x="9997135" y="2843784"/>
            <a:ext cx="1188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16 KB</a:t>
            </a:r>
            <a:endParaRPr lang="en-US" sz="1500" dirty="0"/>
          </a:p>
        </p:txBody>
      </p:sp>
      <p:sp>
        <p:nvSpPr>
          <p:cNvPr id="31" name="Shape 28"/>
          <p:cNvSpPr/>
          <p:nvPr/>
        </p:nvSpPr>
        <p:spPr>
          <a:xfrm>
            <a:off x="7616952" y="3474720"/>
            <a:ext cx="3770071" cy="548640"/>
          </a:xfrm>
          <a:prstGeom prst="roundRect">
            <a:avLst>
              <a:gd name="adj" fmla="val 10000"/>
            </a:avLst>
          </a:prstGeom>
          <a:solidFill>
            <a:srgbClr val="ECFEFF"/>
          </a:solidFill>
          <a:ln w="19050">
            <a:solidFill>
              <a:srgbClr val="0EA5B5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7772400" y="3474720"/>
            <a:ext cx="1783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EA5B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q4 (4-bit) ★</a:t>
            </a:r>
            <a:endParaRPr lang="en-US" sz="1250" dirty="0"/>
          </a:p>
        </p:txBody>
      </p:sp>
      <p:sp>
        <p:nvSpPr>
          <p:cNvPr id="33" name="Text 30"/>
          <p:cNvSpPr/>
          <p:nvPr/>
        </p:nvSpPr>
        <p:spPr>
          <a:xfrm>
            <a:off x="9235440" y="3474720"/>
            <a:ext cx="71597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0EA5B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邊緣推論首選</a:t>
            </a:r>
            <a:endParaRPr lang="en-US" sz="950" dirty="0"/>
          </a:p>
        </p:txBody>
      </p:sp>
      <p:sp>
        <p:nvSpPr>
          <p:cNvPr id="34" name="Text 31"/>
          <p:cNvSpPr/>
          <p:nvPr/>
        </p:nvSpPr>
        <p:spPr>
          <a:xfrm>
            <a:off x="9997135" y="3474720"/>
            <a:ext cx="1188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0EA5B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8 KB</a:t>
            </a:r>
            <a:endParaRPr lang="en-US" sz="1500" dirty="0"/>
          </a:p>
        </p:txBody>
      </p:sp>
      <p:sp>
        <p:nvSpPr>
          <p:cNvPr id="35" name="Shape 32"/>
          <p:cNvSpPr/>
          <p:nvPr/>
        </p:nvSpPr>
        <p:spPr>
          <a:xfrm>
            <a:off x="7616952" y="4105656"/>
            <a:ext cx="3770071" cy="5486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6" name="Text 33"/>
          <p:cNvSpPr/>
          <p:nvPr/>
        </p:nvSpPr>
        <p:spPr>
          <a:xfrm>
            <a:off x="7772400" y="4105656"/>
            <a:ext cx="1783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E293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q2 (2-bit)</a:t>
            </a:r>
            <a:endParaRPr lang="en-US" sz="1250" dirty="0"/>
          </a:p>
        </p:txBody>
      </p:sp>
      <p:sp>
        <p:nvSpPr>
          <p:cNvPr id="37" name="Text 34"/>
          <p:cNvSpPr/>
          <p:nvPr/>
        </p:nvSpPr>
        <p:spPr>
          <a:xfrm>
            <a:off x="9997135" y="4105656"/>
            <a:ext cx="1188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 KB</a:t>
            </a:r>
            <a:endParaRPr lang="en-US" sz="1500" dirty="0"/>
          </a:p>
        </p:txBody>
      </p:sp>
      <p:sp>
        <p:nvSpPr>
          <p:cNvPr id="38" name="Shape 35"/>
          <p:cNvSpPr/>
          <p:nvPr/>
        </p:nvSpPr>
        <p:spPr>
          <a:xfrm>
            <a:off x="7360920" y="4956048"/>
            <a:ext cx="4282135" cy="1097280"/>
          </a:xfrm>
          <a:prstGeom prst="roundRect">
            <a:avLst>
              <a:gd name="adj" fmla="val 6667"/>
            </a:avLst>
          </a:prstGeom>
          <a:solidFill>
            <a:srgbClr val="ECFEFF"/>
          </a:solidFill>
          <a:ln w="15875">
            <a:solidFill>
              <a:srgbClr val="0EA5B5"/>
            </a:solidFill>
            <a:prstDash val="solid"/>
          </a:ln>
        </p:spPr>
      </p:sp>
      <p:sp>
        <p:nvSpPr>
          <p:cNvPr id="39" name="Text 36"/>
          <p:cNvSpPr/>
          <p:nvPr/>
        </p:nvSpPr>
        <p:spPr>
          <a:xfrm>
            <a:off x="7616952" y="5065776"/>
            <a:ext cx="382493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E749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預訓練規模(已上 Hugging Face)</a:t>
            </a:r>
            <a:endParaRPr lang="en-US" sz="1200" dirty="0"/>
          </a:p>
        </p:txBody>
      </p:sp>
      <p:sp>
        <p:nvSpPr>
          <p:cNvPr id="40" name="Text 37"/>
          <p:cNvSpPr/>
          <p:nvPr/>
        </p:nvSpPr>
        <p:spPr>
          <a:xfrm>
            <a:off x="7616952" y="5394960"/>
            <a:ext cx="382493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EA5B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12.2M 訓練步  ·  60K 幀  ·  610K 三元組</a:t>
            </a:r>
            <a:endParaRPr lang="en-US" sz="1300" dirty="0"/>
          </a:p>
        </p:txBody>
      </p:sp>
      <p:sp>
        <p:nvSpPr>
          <p:cNvPr id="41" name="Text 38"/>
          <p:cNvSpPr/>
          <p:nvPr/>
        </p:nvSpPr>
        <p:spPr>
          <a:xfrm>
            <a:off x="548640" y="6455664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RuView · WiFi-DensePose</a:t>
            </a:r>
            <a:endParaRPr lang="en-US" sz="900" dirty="0"/>
          </a:p>
        </p:txBody>
      </p:sp>
      <p:sp>
        <p:nvSpPr>
          <p:cNvPr id="42" name="Text 39"/>
          <p:cNvSpPr/>
          <p:nvPr/>
        </p:nvSpPr>
        <p:spPr>
          <a:xfrm>
            <a:off x="10271455" y="645566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 / 17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20624"/>
            <a:ext cx="841248" cy="841248"/>
          </a:xfrm>
          <a:prstGeom prst="roundRect">
            <a:avLst>
              <a:gd name="adj" fmla="val 13043"/>
            </a:avLst>
          </a:prstGeom>
          <a:solidFill>
            <a:srgbClr val="22D3EE"/>
          </a:solidFill>
          <a:ln/>
          <a:effectLst>
            <a:outerShdw sx="100000" sy="100000" kx="0" ky="0" algn="bl" rotWithShape="0" blurRad="88900" dist="38100" dir="8100000">
              <a:srgbClr val="0A1A2F">
                <a:alpha val="16000"/>
              </a:srgbClr>
            </a:outerShdw>
          </a:effectLst>
        </p:spPr>
      </p:sp>
      <p:sp>
        <p:nvSpPr>
          <p:cNvPr id="3" name="Text 1"/>
          <p:cNvSpPr/>
          <p:nvPr/>
        </p:nvSpPr>
        <p:spPr>
          <a:xfrm>
            <a:off x="548640" y="420624"/>
            <a:ext cx="841248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A1A2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3.1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572768" y="402336"/>
            <a:ext cx="9997135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A1A2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實驗結果 — 成果展示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1591056" y="987552"/>
            <a:ext cx="9997135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0EA5B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線上互動 Demo,可現場操作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548640" y="1627632"/>
            <a:ext cx="5943600" cy="841248"/>
          </a:xfrm>
          <a:prstGeom prst="roundRect">
            <a:avLst>
              <a:gd name="adj" fmla="val 7609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38100" dir="8100000">
              <a:srgbClr val="0A1A2F">
                <a:alpha val="16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48640" y="1627632"/>
            <a:ext cx="73152" cy="841248"/>
          </a:xfrm>
          <a:prstGeom prst="rect">
            <a:avLst/>
          </a:prstGeom>
          <a:solidFill>
            <a:srgbClr val="22D3EE"/>
          </a:solidFill>
          <a:ln/>
        </p:spPr>
      </p:sp>
      <p:sp>
        <p:nvSpPr>
          <p:cNvPr id="8" name="Text 6"/>
          <p:cNvSpPr/>
          <p:nvPr/>
        </p:nvSpPr>
        <p:spPr>
          <a:xfrm>
            <a:off x="804672" y="1719072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A1A2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Live Observatory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804672" y="2084832"/>
            <a:ext cx="3657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即時 CSI 姿態骨架主展示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3657600" y="1719072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0EA5B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ruvnet.github.io/RuView/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548640" y="2578608"/>
            <a:ext cx="5943600" cy="841248"/>
          </a:xfrm>
          <a:prstGeom prst="roundRect">
            <a:avLst>
              <a:gd name="adj" fmla="val 7609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38100" dir="8100000">
              <a:srgbClr val="0A1A2F">
                <a:alpha val="16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548640" y="2578608"/>
            <a:ext cx="73152" cy="841248"/>
          </a:xfrm>
          <a:prstGeom prst="rect">
            <a:avLst/>
          </a:prstGeom>
          <a:solidFill>
            <a:srgbClr val="22D3EE"/>
          </a:solidFill>
          <a:ln/>
        </p:spPr>
      </p:sp>
      <p:sp>
        <p:nvSpPr>
          <p:cNvPr id="13" name="Text 11"/>
          <p:cNvSpPr/>
          <p:nvPr/>
        </p:nvSpPr>
        <p:spPr>
          <a:xfrm>
            <a:off x="804672" y="2670048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A1A2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Dual-Modal Fusion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804672" y="3035808"/>
            <a:ext cx="3657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webcam + CSI 雙模態融合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657600" y="2670048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0EA5B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…/pose-fusion.html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548640" y="3529584"/>
            <a:ext cx="5943600" cy="841248"/>
          </a:xfrm>
          <a:prstGeom prst="roundRect">
            <a:avLst>
              <a:gd name="adj" fmla="val 7609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38100" dir="8100000">
              <a:srgbClr val="0A1A2F">
                <a:alpha val="16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548640" y="3529584"/>
            <a:ext cx="73152" cy="841248"/>
          </a:xfrm>
          <a:prstGeom prst="rect">
            <a:avLst/>
          </a:prstGeom>
          <a:solidFill>
            <a:srgbClr val="22D3EE"/>
          </a:solidFill>
          <a:ln/>
        </p:spPr>
      </p:sp>
      <p:sp>
        <p:nvSpPr>
          <p:cNvPr id="18" name="Text 16"/>
          <p:cNvSpPr/>
          <p:nvPr/>
        </p:nvSpPr>
        <p:spPr>
          <a:xfrm>
            <a:off x="804672" y="3621024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A1A2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Live 3D Point Cloud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804672" y="3986784"/>
            <a:ext cx="3657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相機 + CSI + 雷達點雲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3657600" y="3621024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0EA5B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…/pointcloud/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548640" y="4480560"/>
            <a:ext cx="5943600" cy="841248"/>
          </a:xfrm>
          <a:prstGeom prst="roundRect">
            <a:avLst>
              <a:gd name="adj" fmla="val 7609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38100" dir="8100000">
              <a:srgbClr val="0A1A2F">
                <a:alpha val="16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548640" y="4480560"/>
            <a:ext cx="73152" cy="841248"/>
          </a:xfrm>
          <a:prstGeom prst="rect">
            <a:avLst/>
          </a:prstGeom>
          <a:solidFill>
            <a:srgbClr val="22D3EE"/>
          </a:solidFill>
          <a:ln/>
        </p:spPr>
      </p:sp>
      <p:sp>
        <p:nvSpPr>
          <p:cNvPr id="23" name="Text 21"/>
          <p:cNvSpPr/>
          <p:nvPr/>
        </p:nvSpPr>
        <p:spPr>
          <a:xfrm>
            <a:off x="804672" y="457200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A1A2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three.js Demos (5)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804672" y="4937760"/>
            <a:ext cx="3657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漸進式 3D 場景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3657600" y="457200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0EA5B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…/three.js/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548640" y="5468112"/>
            <a:ext cx="5943600" cy="566928"/>
          </a:xfrm>
          <a:prstGeom prst="roundRect">
            <a:avLst>
              <a:gd name="adj" fmla="val 11290"/>
            </a:avLst>
          </a:prstGeom>
          <a:solidFill>
            <a:srgbClr val="0A1A2F"/>
          </a:solidFill>
          <a:ln/>
        </p:spPr>
      </p:sp>
      <p:sp>
        <p:nvSpPr>
          <p:cNvPr id="27" name="Text 25"/>
          <p:cNvSpPr/>
          <p:nvPr/>
        </p:nvSpPr>
        <p:spPr>
          <a:xfrm>
            <a:off x="822960" y="5468112"/>
            <a:ext cx="5486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2D3E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30 秒上手:  </a:t>
            </a:r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docker run -p 3000:3000 ruvnet/wifi-densepose:latest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6766560" y="1627632"/>
            <a:ext cx="4873752" cy="3383280"/>
          </a:xfrm>
          <a:prstGeom prst="roundRect">
            <a:avLst>
              <a:gd name="adj" fmla="val 2703"/>
            </a:avLst>
          </a:prstGeom>
          <a:solidFill>
            <a:srgbClr val="112A45"/>
          </a:solidFill>
          <a:ln w="15875">
            <a:solidFill>
              <a:srgbClr val="22D3EE"/>
            </a:solidFill>
            <a:prstDash val="solid"/>
          </a:ln>
          <a:effectLst>
            <a:outerShdw sx="100000" sy="100000" kx="0" ky="0" algn="bl" rotWithShape="0" blurRad="88900" dist="38100" dir="8100000">
              <a:srgbClr val="0A1A2F">
                <a:alpha val="16000"/>
              </a:srgbClr>
            </a:outerShdw>
          </a:effectLst>
        </p:spPr>
      </p:sp>
      <p:pic>
        <p:nvPicPr>
          <p:cNvPr id="29" name="Image 0" descr="D:/RuView/assets/screenshot.png">    </p:cNvPr>
          <p:cNvPicPr>
            <a:picLocks noChangeAspect="1"/>
          </p:cNvPicPr>
          <p:nvPr/>
        </p:nvPicPr>
        <p:blipFill>
          <a:blip r:embed="rId1"/>
          <a:srcRect l="-59" r="-59" t="0" b="0"/>
          <a:stretch/>
        </p:blipFill>
        <p:spPr>
          <a:xfrm>
            <a:off x="6894576" y="1755648"/>
            <a:ext cx="4617720" cy="2377440"/>
          </a:xfrm>
          <a:prstGeom prst="rect">
            <a:avLst/>
          </a:prstGeom>
        </p:spPr>
      </p:pic>
      <p:sp>
        <p:nvSpPr>
          <p:cNvPr id="30" name="Text 27"/>
          <p:cNvSpPr/>
          <p:nvPr/>
        </p:nvSpPr>
        <p:spPr>
          <a:xfrm>
            <a:off x="6766560" y="4343400"/>
            <a:ext cx="48737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22D3E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即時感測畫面:姿態骨架 + 訊號視覺化</a:t>
            </a:r>
            <a:endParaRPr lang="en-US" sz="1050" dirty="0"/>
          </a:p>
        </p:txBody>
      </p:sp>
      <p:sp>
        <p:nvSpPr>
          <p:cNvPr id="31" name="Text 28"/>
          <p:cNvSpPr/>
          <p:nvPr/>
        </p:nvSpPr>
        <p:spPr>
          <a:xfrm>
            <a:off x="6766560" y="5074920"/>
            <a:ext cx="487375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0A1A2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可現場演示:</a:t>
            </a:r>
            <a:pPr indent="0" marL="0">
              <a:buNone/>
            </a:pPr>
            <a:r>
              <a:rPr lang="en-US" sz="1250" dirty="0">
                <a:solidFill>
                  <a:srgbClr val="1E293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即時骨架、呼吸/心率讀數、RF 房間掃描、跌倒警報、穿牆偵測</a:t>
            </a:r>
            <a:endParaRPr lang="en-US" sz="1250" dirty="0"/>
          </a:p>
        </p:txBody>
      </p:sp>
      <p:sp>
        <p:nvSpPr>
          <p:cNvPr id="32" name="Text 29"/>
          <p:cNvSpPr/>
          <p:nvPr/>
        </p:nvSpPr>
        <p:spPr>
          <a:xfrm>
            <a:off x="548640" y="6455664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RuView · WiFi-DensePose</a:t>
            </a:r>
            <a:endParaRPr lang="en-US" sz="900" dirty="0"/>
          </a:p>
        </p:txBody>
      </p:sp>
      <p:sp>
        <p:nvSpPr>
          <p:cNvPr id="33" name="Text 30"/>
          <p:cNvSpPr/>
          <p:nvPr/>
        </p:nvSpPr>
        <p:spPr>
          <a:xfrm>
            <a:off x="10271455" y="645566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11 / 17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20624"/>
            <a:ext cx="841248" cy="841248"/>
          </a:xfrm>
          <a:prstGeom prst="roundRect">
            <a:avLst>
              <a:gd name="adj" fmla="val 13043"/>
            </a:avLst>
          </a:prstGeom>
          <a:solidFill>
            <a:srgbClr val="22D3EE"/>
          </a:solidFill>
          <a:ln/>
          <a:effectLst>
            <a:outerShdw sx="100000" sy="100000" kx="0" ky="0" algn="bl" rotWithShape="0" blurRad="88900" dist="38100" dir="8100000">
              <a:srgbClr val="0A1A2F">
                <a:alpha val="16000"/>
              </a:srgbClr>
            </a:outerShdw>
          </a:effectLst>
        </p:spPr>
      </p:sp>
      <p:sp>
        <p:nvSpPr>
          <p:cNvPr id="3" name="Text 1"/>
          <p:cNvSpPr/>
          <p:nvPr/>
        </p:nvSpPr>
        <p:spPr>
          <a:xfrm>
            <a:off x="548640" y="420624"/>
            <a:ext cx="841248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A1A2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3.2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572768" y="402336"/>
            <a:ext cx="9997135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A1A2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測試與比較(一):已驗證指標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1591056" y="987552"/>
            <a:ext cx="9997135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0EA5B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以下全部為實測驗證數據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548640" y="1591056"/>
            <a:ext cx="3520440" cy="1298448"/>
          </a:xfrm>
          <a:prstGeom prst="roundRect">
            <a:avLst>
              <a:gd name="adj" fmla="val 5634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38100" dir="8100000">
              <a:srgbClr val="0A1A2F">
                <a:alpha val="16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48640" y="2825496"/>
            <a:ext cx="3520440" cy="64008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" y="1700784"/>
            <a:ext cx="3337560" cy="67519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700" b="1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100%</a:t>
            </a:r>
            <a:endParaRPr lang="en-US" sz="2700" dirty="0"/>
          </a:p>
        </p:txBody>
      </p:sp>
      <p:sp>
        <p:nvSpPr>
          <p:cNvPr id="9" name="Text 7"/>
          <p:cNvSpPr/>
          <p:nvPr/>
        </p:nvSpPr>
        <p:spPr>
          <a:xfrm>
            <a:off x="640080" y="2370125"/>
            <a:ext cx="3337560" cy="41550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存在偵測準確率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325112" y="1591056"/>
            <a:ext cx="3520440" cy="1298448"/>
          </a:xfrm>
          <a:prstGeom prst="roundRect">
            <a:avLst>
              <a:gd name="adj" fmla="val 5634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38100" dir="8100000">
              <a:srgbClr val="0A1A2F">
                <a:alpha val="16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325112" y="2825496"/>
            <a:ext cx="3520440" cy="64008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12" name="Text 10"/>
          <p:cNvSpPr/>
          <p:nvPr/>
        </p:nvSpPr>
        <p:spPr>
          <a:xfrm>
            <a:off x="4416552" y="1700784"/>
            <a:ext cx="3337560" cy="67519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700" b="1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24 / 24</a:t>
            </a:r>
            <a:endParaRPr lang="en-US" sz="2700" dirty="0"/>
          </a:p>
        </p:txBody>
      </p:sp>
      <p:sp>
        <p:nvSpPr>
          <p:cNvPr id="13" name="Text 11"/>
          <p:cNvSpPr/>
          <p:nvPr/>
        </p:nvSpPr>
        <p:spPr>
          <a:xfrm>
            <a:off x="4416552" y="2370125"/>
            <a:ext cx="3337560" cy="41550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多人計數正確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8101584" y="1591056"/>
            <a:ext cx="3520440" cy="1298448"/>
          </a:xfrm>
          <a:prstGeom prst="roundRect">
            <a:avLst>
              <a:gd name="adj" fmla="val 5634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38100" dir="8100000">
              <a:srgbClr val="0A1A2F">
                <a:alpha val="16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8101584" y="2825496"/>
            <a:ext cx="3520440" cy="64008"/>
          </a:xfrm>
          <a:prstGeom prst="rect">
            <a:avLst/>
          </a:prstGeom>
          <a:solidFill>
            <a:srgbClr val="22D3EE"/>
          </a:solidFill>
          <a:ln/>
        </p:spPr>
      </p:sp>
      <p:sp>
        <p:nvSpPr>
          <p:cNvPr id="16" name="Text 14"/>
          <p:cNvSpPr/>
          <p:nvPr/>
        </p:nvSpPr>
        <p:spPr>
          <a:xfrm>
            <a:off x="8193024" y="1700784"/>
            <a:ext cx="3337560" cy="67519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700" b="1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164,183</a:t>
            </a:r>
            <a:endParaRPr lang="en-US" sz="2700" dirty="0"/>
          </a:p>
        </p:txBody>
      </p:sp>
      <p:sp>
        <p:nvSpPr>
          <p:cNvPr id="17" name="Text 15"/>
          <p:cNvSpPr/>
          <p:nvPr/>
        </p:nvSpPr>
        <p:spPr>
          <a:xfrm>
            <a:off x="8193024" y="2370125"/>
            <a:ext cx="3337560" cy="41550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嵌入 / 秒 (M4 Pro)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548640" y="3090672"/>
            <a:ext cx="3520440" cy="1298448"/>
          </a:xfrm>
          <a:prstGeom prst="roundRect">
            <a:avLst>
              <a:gd name="adj" fmla="val 5634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38100" dir="8100000">
              <a:srgbClr val="0A1A2F">
                <a:alpha val="16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548640" y="4325112"/>
            <a:ext cx="3520440" cy="64008"/>
          </a:xfrm>
          <a:prstGeom prst="rect">
            <a:avLst/>
          </a:prstGeom>
          <a:solidFill>
            <a:srgbClr val="22D3EE"/>
          </a:solidFill>
          <a:ln/>
        </p:spPr>
      </p:sp>
      <p:sp>
        <p:nvSpPr>
          <p:cNvPr id="20" name="Text 18"/>
          <p:cNvSpPr/>
          <p:nvPr/>
        </p:nvSpPr>
        <p:spPr>
          <a:xfrm>
            <a:off x="640080" y="3200400"/>
            <a:ext cx="3337560" cy="67519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700" b="1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810×</a:t>
            </a:r>
            <a:endParaRPr lang="en-US" sz="2700" dirty="0"/>
          </a:p>
        </p:txBody>
      </p:sp>
      <p:sp>
        <p:nvSpPr>
          <p:cNvPr id="21" name="Text 19"/>
          <p:cNvSpPr/>
          <p:nvPr/>
        </p:nvSpPr>
        <p:spPr>
          <a:xfrm>
            <a:off x="640080" y="3869741"/>
            <a:ext cx="3337560" cy="41550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Rust vs Python 加速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4325112" y="3090672"/>
            <a:ext cx="3520440" cy="1298448"/>
          </a:xfrm>
          <a:prstGeom prst="roundRect">
            <a:avLst>
              <a:gd name="adj" fmla="val 5634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38100" dir="8100000">
              <a:srgbClr val="0A1A2F">
                <a:alpha val="16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4325112" y="4325112"/>
            <a:ext cx="3520440" cy="64008"/>
          </a:xfrm>
          <a:prstGeom prst="rect">
            <a:avLst/>
          </a:prstGeom>
          <a:solidFill>
            <a:srgbClr val="0EA5B5"/>
          </a:solidFill>
          <a:ln/>
        </p:spPr>
      </p:sp>
      <p:sp>
        <p:nvSpPr>
          <p:cNvPr id="24" name="Text 22"/>
          <p:cNvSpPr/>
          <p:nvPr/>
        </p:nvSpPr>
        <p:spPr>
          <a:xfrm>
            <a:off x="4416552" y="3200400"/>
            <a:ext cx="3337560" cy="67519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700" b="1" dirty="0">
                <a:solidFill>
                  <a:srgbClr val="0EA5B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8 KB</a:t>
            </a:r>
            <a:endParaRPr lang="en-US" sz="2700" dirty="0"/>
          </a:p>
        </p:txBody>
      </p:sp>
      <p:sp>
        <p:nvSpPr>
          <p:cNvPr id="25" name="Text 23"/>
          <p:cNvSpPr/>
          <p:nvPr/>
        </p:nvSpPr>
        <p:spPr>
          <a:xfrm>
            <a:off x="4416552" y="3869741"/>
            <a:ext cx="3337560" cy="41550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模型大小 (4-bit)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8101584" y="3090672"/>
            <a:ext cx="3520440" cy="1298448"/>
          </a:xfrm>
          <a:prstGeom prst="roundRect">
            <a:avLst>
              <a:gd name="adj" fmla="val 5634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38100" dir="8100000">
              <a:srgbClr val="0A1A2F">
                <a:alpha val="16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8101584" y="4325112"/>
            <a:ext cx="3520440" cy="64008"/>
          </a:xfrm>
          <a:prstGeom prst="rect">
            <a:avLst/>
          </a:prstGeom>
          <a:solidFill>
            <a:srgbClr val="0EA5B5"/>
          </a:solidFill>
          <a:ln/>
        </p:spPr>
      </p:sp>
      <p:sp>
        <p:nvSpPr>
          <p:cNvPr id="28" name="Text 26"/>
          <p:cNvSpPr/>
          <p:nvPr/>
        </p:nvSpPr>
        <p:spPr>
          <a:xfrm>
            <a:off x="8193024" y="3200400"/>
            <a:ext cx="3337560" cy="67519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700" b="1" dirty="0">
                <a:solidFill>
                  <a:srgbClr val="0EA5B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1,463</a:t>
            </a:r>
            <a:endParaRPr lang="en-US" sz="2700" dirty="0"/>
          </a:p>
        </p:txBody>
      </p:sp>
      <p:sp>
        <p:nvSpPr>
          <p:cNvPr id="29" name="Text 27"/>
          <p:cNvSpPr/>
          <p:nvPr/>
        </p:nvSpPr>
        <p:spPr>
          <a:xfrm>
            <a:off x="8193024" y="3869741"/>
            <a:ext cx="3337560" cy="41550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測試通過 · 0 失敗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548640" y="4736592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A1A2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語意偵測 F1:</a:t>
            </a:r>
            <a:pPr algn="ctr" indent="0" marL="0">
              <a:buNone/>
            </a:pPr>
            <a:r>
              <a:rPr lang="en-US" sz="1250" dirty="0">
                <a:solidFill>
                  <a:srgbClr val="1E293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浴室占用 0.98  ·  房間活動 0.95  ·  無動作 0.92  ·  離床 0.91  ·  睡眠 0.84</a:t>
            </a:r>
            <a:endParaRPr lang="en-US" sz="1250" dirty="0"/>
          </a:p>
        </p:txBody>
      </p:sp>
      <p:sp>
        <p:nvSpPr>
          <p:cNvPr id="31" name="Shape 29"/>
          <p:cNvSpPr/>
          <p:nvPr/>
        </p:nvSpPr>
        <p:spPr>
          <a:xfrm>
            <a:off x="548640" y="5175504"/>
            <a:ext cx="11094415" cy="914400"/>
          </a:xfrm>
          <a:prstGeom prst="roundRect">
            <a:avLst>
              <a:gd name="adj" fmla="val 8000"/>
            </a:avLst>
          </a:prstGeom>
          <a:solidFill>
            <a:srgbClr val="FEF3C7"/>
          </a:solidFill>
          <a:ln w="19050">
            <a:solidFill>
              <a:srgbClr val="F59E0B"/>
            </a:solidFill>
            <a:prstDash val="solid"/>
          </a:ln>
          <a:effectLst>
            <a:outerShdw sx="100000" sy="100000" kx="0" ky="0" algn="bl" rotWithShape="0" blurRad="88900" dist="38100" dir="8100000">
              <a:srgbClr val="0A1A2F">
                <a:alpha val="16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786384" y="5376672"/>
            <a:ext cx="512064" cy="512064"/>
          </a:xfrm>
          <a:prstGeom prst="ellipse">
            <a:avLst/>
          </a:prstGeom>
          <a:solidFill>
            <a:srgbClr val="F59E0B"/>
          </a:solidFill>
          <a:ln/>
        </p:spPr>
      </p:sp>
      <p:pic>
        <p:nvPicPr>
          <p:cNvPr id="3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9521" y="5509809"/>
            <a:ext cx="245791" cy="245791"/>
          </a:xfrm>
          <a:prstGeom prst="rect">
            <a:avLst/>
          </a:prstGeom>
        </p:spPr>
      </p:pic>
      <p:sp>
        <p:nvSpPr>
          <p:cNvPr id="34" name="Text 31"/>
          <p:cNvSpPr/>
          <p:nvPr/>
        </p:nvSpPr>
        <p:spPr>
          <a:xfrm>
            <a:off x="1463040" y="5230368"/>
            <a:ext cx="990569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92400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誠實標註:</a:t>
            </a:r>
            <a:pPr indent="0" marL="0">
              <a:buNone/>
            </a:pPr>
            <a:r>
              <a:rPr lang="en-US" sz="1200" dirty="0">
                <a:solidFill>
                  <a:srgbClr val="92400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17 關鍵點姿態 PCK@20 目前 3.0%(目標 ≥35%)— 瓶頸是資料量(僅 1,077 樣本),非架構問題。早期文件的 92.9% 已被官方稽核更正,本報告採用真實數字。</a:t>
            </a:r>
            <a:endParaRPr lang="en-US" sz="1200" dirty="0"/>
          </a:p>
        </p:txBody>
      </p:sp>
      <p:sp>
        <p:nvSpPr>
          <p:cNvPr id="35" name="Text 32"/>
          <p:cNvSpPr/>
          <p:nvPr/>
        </p:nvSpPr>
        <p:spPr>
          <a:xfrm>
            <a:off x="548640" y="6455664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RuView · WiFi-DensePose</a:t>
            </a:r>
            <a:endParaRPr lang="en-US" sz="900" dirty="0"/>
          </a:p>
        </p:txBody>
      </p:sp>
      <p:sp>
        <p:nvSpPr>
          <p:cNvPr id="36" name="Text 33"/>
          <p:cNvSpPr/>
          <p:nvPr/>
        </p:nvSpPr>
        <p:spPr>
          <a:xfrm>
            <a:off x="10271455" y="645566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12 / 17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20624"/>
            <a:ext cx="841248" cy="841248"/>
          </a:xfrm>
          <a:prstGeom prst="roundRect">
            <a:avLst>
              <a:gd name="adj" fmla="val 13043"/>
            </a:avLst>
          </a:prstGeom>
          <a:solidFill>
            <a:srgbClr val="22D3EE"/>
          </a:solidFill>
          <a:ln/>
          <a:effectLst>
            <a:outerShdw sx="100000" sy="100000" kx="0" ky="0" algn="bl" rotWithShape="0" blurRad="88900" dist="38100" dir="8100000">
              <a:srgbClr val="0A1A2F">
                <a:alpha val="16000"/>
              </a:srgbClr>
            </a:outerShdw>
          </a:effectLst>
        </p:spPr>
      </p:sp>
      <p:sp>
        <p:nvSpPr>
          <p:cNvPr id="3" name="Text 1"/>
          <p:cNvSpPr/>
          <p:nvPr/>
        </p:nvSpPr>
        <p:spPr>
          <a:xfrm>
            <a:off x="548640" y="420624"/>
            <a:ext cx="841248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A1A2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3.2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572768" y="402336"/>
            <a:ext cx="9997135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A1A2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測試與比較(二):與相機 / 傳統方案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1591056" y="987552"/>
            <a:ext cx="9997135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0EA5B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WiFi 感測的本質優勢 + 學術指標對照</a:t>
            </a:r>
            <a:endParaRPr lang="en-US" sz="135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27632"/>
          <a:ext cx="5852160" cy="914400"/>
        </p:xfrm>
        <a:graphic>
          <a:graphicData uri="http://schemas.openxmlformats.org/drawingml/2006/table">
            <a:tbl>
              <a:tblPr/>
              <a:tblGrid>
                <a:gridCol w="1554480"/>
                <a:gridCol w="2606040"/>
                <a:gridCol w="1691640"/>
              </a:tblGrid>
              <a:tr h="5120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維度</a:t>
                      </a:r>
                      <a:endParaRPr lang="en-US" sz="13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A2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RuView (WiFi)</a:t>
                      </a:r>
                      <a:endParaRPr lang="en-US" sz="13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A2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攝影機</a:t>
                      </a:r>
                      <a:endParaRPr lang="en-US" sz="13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A2F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1E293B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成本 / 點位</a:t>
                      </a:r>
                      <a:endParaRPr lang="en-US" sz="12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0EA5B5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~$50(Pi 4)</a:t>
                      </a:r>
                      <a:endParaRPr lang="en-US" sz="12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E293B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$200–$2000</a:t>
                      </a:r>
                      <a:endParaRPr lang="en-US" sz="12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1E293B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隱私</a:t>
                      </a:r>
                      <a:endParaRPr lang="en-US" sz="12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0EA5B5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無影像、規避法規</a:t>
                      </a:r>
                      <a:endParaRPr lang="en-US" sz="12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E293B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需同意 / 告示</a:t>
                      </a:r>
                      <a:endParaRPr lang="en-US" sz="12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1E293B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穿牆</a:t>
                      </a:r>
                      <a:endParaRPr lang="en-US" sz="12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10B981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✓</a:t>
                      </a:r>
                      <a:endParaRPr lang="en-US" sz="12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EF4444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✕</a:t>
                      </a:r>
                      <a:endParaRPr lang="en-US" sz="12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1E293B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黑暗</a:t>
                      </a:r>
                      <a:endParaRPr lang="en-US" sz="12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10B981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✓</a:t>
                      </a:r>
                      <a:endParaRPr lang="en-US" sz="12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EF4444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✕</a:t>
                      </a:r>
                      <a:endParaRPr lang="en-US" sz="12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1E293B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多人</a:t>
                      </a:r>
                      <a:endParaRPr lang="en-US" sz="12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0EA5B5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~3–5 / AP(可疊加)</a:t>
                      </a:r>
                      <a:endParaRPr lang="en-US" sz="12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E293B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視角受限</a:t>
                      </a:r>
                      <a:endParaRPr lang="en-US" sz="12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6492240" y="1572768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A1A2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DensePose-From-WiFi 文獻基準(CMU,本架構家族)</a:t>
            </a:r>
            <a:endParaRPr lang="en-US" sz="1250" dirty="0"/>
          </a:p>
        </p:txBody>
      </p:sp>
      <p:graphicFrame>
        <p:nvGraphicFramePr>
          <p:cNvPr id="8" name="Chart 0" descr=""/>
          <p:cNvGraphicFramePr/>
          <p:nvPr/>
        </p:nvGraphicFramePr>
        <p:xfrm>
          <a:off x="6400800" y="1920240"/>
          <a:ext cx="5257800" cy="26974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9" name="Text 5"/>
          <p:cNvSpPr/>
          <p:nvPr/>
        </p:nvSpPr>
        <p:spPr>
          <a:xfrm>
            <a:off x="6400800" y="4617720"/>
            <a:ext cx="5257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AP@50 指標 · 數值越高越好</a:t>
            </a:r>
            <a:endParaRPr lang="en-US" sz="1000" dirty="0"/>
          </a:p>
        </p:txBody>
      </p:sp>
      <p:sp>
        <p:nvSpPr>
          <p:cNvPr id="10" name="Shape 6"/>
          <p:cNvSpPr/>
          <p:nvPr/>
        </p:nvSpPr>
        <p:spPr>
          <a:xfrm>
            <a:off x="548640" y="5029200"/>
            <a:ext cx="11094415" cy="1005840"/>
          </a:xfrm>
          <a:prstGeom prst="roundRect">
            <a:avLst>
              <a:gd name="adj" fmla="val 7273"/>
            </a:avLst>
          </a:prstGeom>
          <a:solidFill>
            <a:srgbClr val="0A1A2F"/>
          </a:solidFill>
          <a:ln/>
          <a:effectLst>
            <a:outerShdw sx="100000" sy="100000" kx="0" ky="0" algn="bl" rotWithShape="0" blurRad="88900" dist="38100" dir="8100000">
              <a:srgbClr val="0A1A2F">
                <a:alpha val="16000"/>
              </a:srgbClr>
            </a:outerShdw>
          </a:effectLst>
        </p:spPr>
      </p:sp>
      <p:sp>
        <p:nvSpPr>
          <p:cNvPr id="11" name="Shape 7"/>
          <p:cNvSpPr/>
          <p:nvPr/>
        </p:nvSpPr>
        <p:spPr>
          <a:xfrm>
            <a:off x="8412480" y="3200400"/>
            <a:ext cx="6217920" cy="6217920"/>
          </a:xfrm>
          <a:prstGeom prst="ellipse">
            <a:avLst/>
          </a:prstGeom>
          <a:solidFill>
            <a:srgbClr val="0A1A2F">
              <a:alpha val="0"/>
            </a:srgbClr>
          </a:solidFill>
          <a:ln w="15875">
            <a:solidFill>
              <a:srgbClr val="22D3EE">
                <a:alpha val="65000"/>
              </a:srgbClr>
            </a:solidFill>
            <a:prstDash val="solid"/>
          </a:ln>
        </p:spPr>
      </p:sp>
      <p:sp>
        <p:nvSpPr>
          <p:cNvPr id="12" name="Shape 8"/>
          <p:cNvSpPr/>
          <p:nvPr/>
        </p:nvSpPr>
        <p:spPr>
          <a:xfrm>
            <a:off x="9326880" y="4114800"/>
            <a:ext cx="4389120" cy="4389120"/>
          </a:xfrm>
          <a:prstGeom prst="ellipse">
            <a:avLst/>
          </a:prstGeom>
          <a:solidFill>
            <a:srgbClr val="0A1A2F">
              <a:alpha val="0"/>
            </a:srgbClr>
          </a:solidFill>
          <a:ln w="15875">
            <a:solidFill>
              <a:srgbClr val="22D3EE">
                <a:alpha val="53000"/>
              </a:srgbClr>
            </a:solidFill>
            <a:prstDash val="solid"/>
          </a:ln>
        </p:spPr>
      </p:sp>
      <p:sp>
        <p:nvSpPr>
          <p:cNvPr id="13" name="Shape 9"/>
          <p:cNvSpPr/>
          <p:nvPr/>
        </p:nvSpPr>
        <p:spPr>
          <a:xfrm>
            <a:off x="10149840" y="4937760"/>
            <a:ext cx="2743200" cy="2743200"/>
          </a:xfrm>
          <a:prstGeom prst="ellipse">
            <a:avLst/>
          </a:prstGeom>
          <a:solidFill>
            <a:srgbClr val="0A1A2F">
              <a:alpha val="0"/>
            </a:srgbClr>
          </a:solidFill>
          <a:ln w="15875">
            <a:solidFill>
              <a:srgbClr val="22D3EE">
                <a:alpha val="41000"/>
              </a:srgbClr>
            </a:solidFill>
            <a:prstDash val="solid"/>
          </a:ln>
        </p:spPr>
      </p:sp>
      <p:sp>
        <p:nvSpPr>
          <p:cNvPr id="14" name="Shape 10"/>
          <p:cNvSpPr/>
          <p:nvPr/>
        </p:nvSpPr>
        <p:spPr>
          <a:xfrm>
            <a:off x="10881360" y="5669280"/>
            <a:ext cx="1280160" cy="1280160"/>
          </a:xfrm>
          <a:prstGeom prst="ellipse">
            <a:avLst/>
          </a:prstGeom>
          <a:solidFill>
            <a:srgbClr val="0A1A2F">
              <a:alpha val="0"/>
            </a:srgbClr>
          </a:solidFill>
          <a:ln w="15875">
            <a:solidFill>
              <a:srgbClr val="22D3EE">
                <a:alpha val="29000"/>
              </a:srgbClr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11439144" y="6227064"/>
            <a:ext cx="164592" cy="164592"/>
          </a:xfrm>
          <a:prstGeom prst="ellipse">
            <a:avLst/>
          </a:prstGeom>
          <a:solidFill>
            <a:srgbClr val="22D3EE"/>
          </a:solidFill>
          <a:ln/>
        </p:spPr>
      </p:sp>
      <p:sp>
        <p:nvSpPr>
          <p:cNvPr id="16" name="Text 12"/>
          <p:cNvSpPr/>
          <p:nvPr/>
        </p:nvSpPr>
        <p:spPr>
          <a:xfrm>
            <a:off x="868680" y="5029200"/>
            <a:ext cx="9265615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2D3E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關鍵觀察:</a:t>
            </a:r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同佈局下 WiFi(87.2)已逼近相機(94.4);但跨佈局掉到 27.3 → 「跨環境泛化」是領域公認難題,正是本專案 MERIDIAN 方向所解。</a:t>
            </a:r>
            <a:endParaRPr lang="en-US" sz="1300" dirty="0"/>
          </a:p>
        </p:txBody>
      </p:sp>
      <p:sp>
        <p:nvSpPr>
          <p:cNvPr id="17" name="Text 13"/>
          <p:cNvSpPr/>
          <p:nvPr/>
        </p:nvSpPr>
        <p:spPr>
          <a:xfrm>
            <a:off x="548640" y="6455664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RuView · WiFi-DensePose</a:t>
            </a:r>
            <a:endParaRPr lang="en-US" sz="900" dirty="0"/>
          </a:p>
        </p:txBody>
      </p:sp>
      <p:sp>
        <p:nvSpPr>
          <p:cNvPr id="18" name="Text 14"/>
          <p:cNvSpPr/>
          <p:nvPr/>
        </p:nvSpPr>
        <p:spPr>
          <a:xfrm>
            <a:off x="10271455" y="645566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13 / 17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A1A2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560320" y="-2377440"/>
            <a:ext cx="6217920" cy="6217920"/>
          </a:xfrm>
          <a:prstGeom prst="ellipse">
            <a:avLst/>
          </a:prstGeom>
          <a:solidFill>
            <a:srgbClr val="0A1A2F">
              <a:alpha val="0"/>
            </a:srgbClr>
          </a:solidFill>
          <a:ln w="15875">
            <a:solidFill>
              <a:srgbClr val="22D3EE">
                <a:alpha val="65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1645920" y="-1463040"/>
            <a:ext cx="4389120" cy="4389120"/>
          </a:xfrm>
          <a:prstGeom prst="ellipse">
            <a:avLst/>
          </a:prstGeom>
          <a:solidFill>
            <a:srgbClr val="0A1A2F">
              <a:alpha val="0"/>
            </a:srgbClr>
          </a:solidFill>
          <a:ln w="15875">
            <a:solidFill>
              <a:srgbClr val="22D3EE">
                <a:alpha val="53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-822960" y="-640080"/>
            <a:ext cx="2743200" cy="2743200"/>
          </a:xfrm>
          <a:prstGeom prst="ellipse">
            <a:avLst/>
          </a:prstGeom>
          <a:solidFill>
            <a:srgbClr val="0A1A2F">
              <a:alpha val="0"/>
            </a:srgbClr>
          </a:solidFill>
          <a:ln w="15875">
            <a:solidFill>
              <a:srgbClr val="22D3EE">
                <a:alpha val="41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-91440" y="91440"/>
            <a:ext cx="1280160" cy="1280160"/>
          </a:xfrm>
          <a:prstGeom prst="ellipse">
            <a:avLst/>
          </a:prstGeom>
          <a:solidFill>
            <a:srgbClr val="0A1A2F">
              <a:alpha val="0"/>
            </a:srgbClr>
          </a:solidFill>
          <a:ln w="15875">
            <a:solidFill>
              <a:srgbClr val="22D3EE">
                <a:alpha val="29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66344" y="649224"/>
            <a:ext cx="164592" cy="164592"/>
          </a:xfrm>
          <a:prstGeom prst="ellipse">
            <a:avLst/>
          </a:prstGeom>
          <a:solidFill>
            <a:srgbClr val="22D3EE"/>
          </a:solidFill>
          <a:ln/>
        </p:spPr>
      </p:sp>
      <p:sp>
        <p:nvSpPr>
          <p:cNvPr id="7" name="Shape 5"/>
          <p:cNvSpPr/>
          <p:nvPr/>
        </p:nvSpPr>
        <p:spPr>
          <a:xfrm>
            <a:off x="8595360" y="3291840"/>
            <a:ext cx="6217920" cy="6217920"/>
          </a:xfrm>
          <a:prstGeom prst="ellipse">
            <a:avLst/>
          </a:prstGeom>
          <a:solidFill>
            <a:srgbClr val="0A1A2F">
              <a:alpha val="0"/>
            </a:srgbClr>
          </a:solidFill>
          <a:ln w="15875">
            <a:solidFill>
              <a:srgbClr val="22D3EE">
                <a:alpha val="65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9509760" y="4206240"/>
            <a:ext cx="4389120" cy="4389120"/>
          </a:xfrm>
          <a:prstGeom prst="ellipse">
            <a:avLst/>
          </a:prstGeom>
          <a:solidFill>
            <a:srgbClr val="0A1A2F">
              <a:alpha val="0"/>
            </a:srgbClr>
          </a:solidFill>
          <a:ln w="15875">
            <a:solidFill>
              <a:srgbClr val="22D3EE">
                <a:alpha val="53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0332720" y="5029200"/>
            <a:ext cx="2743200" cy="2743200"/>
          </a:xfrm>
          <a:prstGeom prst="ellipse">
            <a:avLst/>
          </a:prstGeom>
          <a:solidFill>
            <a:srgbClr val="0A1A2F">
              <a:alpha val="0"/>
            </a:srgbClr>
          </a:solidFill>
          <a:ln w="15875">
            <a:solidFill>
              <a:srgbClr val="22D3EE">
                <a:alpha val="41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1064240" y="5760720"/>
            <a:ext cx="1280160" cy="1280160"/>
          </a:xfrm>
          <a:prstGeom prst="ellipse">
            <a:avLst/>
          </a:prstGeom>
          <a:solidFill>
            <a:srgbClr val="0A1A2F">
              <a:alpha val="0"/>
            </a:srgbClr>
          </a:solidFill>
          <a:ln w="15875">
            <a:solidFill>
              <a:srgbClr val="22D3EE">
                <a:alpha val="29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1622024" y="6318504"/>
            <a:ext cx="164592" cy="164592"/>
          </a:xfrm>
          <a:prstGeom prst="ellipse">
            <a:avLst/>
          </a:prstGeom>
          <a:solidFill>
            <a:srgbClr val="22D3EE"/>
          </a:solidFill>
          <a:ln/>
        </p:spPr>
      </p:sp>
      <p:sp>
        <p:nvSpPr>
          <p:cNvPr id="12" name="Shape 10"/>
          <p:cNvSpPr/>
          <p:nvPr/>
        </p:nvSpPr>
        <p:spPr>
          <a:xfrm>
            <a:off x="548640" y="457200"/>
            <a:ext cx="841248" cy="841248"/>
          </a:xfrm>
          <a:prstGeom prst="roundRect">
            <a:avLst>
              <a:gd name="adj" fmla="val 13043"/>
            </a:avLst>
          </a:prstGeom>
          <a:solidFill>
            <a:srgbClr val="22D3EE"/>
          </a:solidFill>
          <a:ln/>
          <a:effectLst>
            <a:outerShdw sx="100000" sy="100000" kx="0" ky="0" algn="bl" rotWithShape="0" blurRad="88900" dist="38100" dir="8100000">
              <a:srgbClr val="0A1A2F">
                <a:alpha val="16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548640" y="457200"/>
            <a:ext cx="841248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A1A2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1572768" y="457200"/>
            <a:ext cx="9997135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結論與未來工作</a:t>
            </a:r>
            <a:endParaRPr lang="en-US" sz="3000" dirty="0"/>
          </a:p>
        </p:txBody>
      </p:sp>
      <p:sp>
        <p:nvSpPr>
          <p:cNvPr id="15" name="Text 13"/>
          <p:cNvSpPr/>
          <p:nvPr/>
        </p:nvSpPr>
        <p:spPr>
          <a:xfrm>
            <a:off x="548640" y="1691640"/>
            <a:ext cx="5486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2D3E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結論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640080" y="2194560"/>
            <a:ext cx="557784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E2E8F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用一台 Raspberry Pi 4,實現非接觸、可穿牆、隱私友善的人體感測</a:t>
            </a:r>
            <a:endParaRPr lang="en-US" sz="14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E2E8F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完整端到端系統:nexmon 擷取 → SOTA 訊號處理 → 對比學習模型 → 單機推論</a:t>
            </a:r>
            <a:endParaRPr lang="en-US" sz="14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E2E8F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已驗證:存在 100% · 164K 嵌入/秒 · 8 KB 模型 · 1,463 測試通過</a:t>
            </a:r>
            <a:endParaRPr lang="en-US" sz="14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E2E8F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工程嚴謹:確定性可重現驗證 + 見證鏈,誠實區分「實測 vs 目標」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6400800" y="1691640"/>
            <a:ext cx="5242255" cy="3657600"/>
          </a:xfrm>
          <a:prstGeom prst="roundRect">
            <a:avLst>
              <a:gd name="adj" fmla="val 2500"/>
            </a:avLst>
          </a:prstGeom>
          <a:solidFill>
            <a:srgbClr val="112A45"/>
          </a:solidFill>
          <a:ln w="12700">
            <a:solidFill>
              <a:srgbClr val="0EA5B5"/>
            </a:solidFill>
            <a:prstDash val="solid"/>
          </a:ln>
          <a:effectLst>
            <a:outerShdw sx="100000" sy="100000" kx="0" ky="0" algn="bl" rotWithShape="0" blurRad="88900" dist="38100" dir="8100000">
              <a:srgbClr val="0A1A2F">
                <a:alpha val="16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6675120" y="1874520"/>
            <a:ext cx="4937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2D3E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未來工作</a:t>
            </a:r>
            <a:endParaRPr lang="en-US" sz="1800" dirty="0"/>
          </a:p>
        </p:txBody>
      </p:sp>
      <p:sp>
        <p:nvSpPr>
          <p:cNvPr id="19" name="Shape 17"/>
          <p:cNvSpPr/>
          <p:nvPr/>
        </p:nvSpPr>
        <p:spPr>
          <a:xfrm>
            <a:off x="6675120" y="2423160"/>
            <a:ext cx="457200" cy="457200"/>
          </a:xfrm>
          <a:prstGeom prst="ellipse">
            <a:avLst/>
          </a:prstGeom>
          <a:solidFill>
            <a:srgbClr val="0EA5B5"/>
          </a:solidFill>
          <a:ln/>
        </p:spPr>
      </p:sp>
      <p:pic>
        <p:nvPicPr>
          <p:cNvPr id="2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793992" y="2542032"/>
            <a:ext cx="219456" cy="219456"/>
          </a:xfrm>
          <a:prstGeom prst="rect">
            <a:avLst/>
          </a:prstGeom>
        </p:spPr>
      </p:pic>
      <p:sp>
        <p:nvSpPr>
          <p:cNvPr id="21" name="Text 18"/>
          <p:cNvSpPr/>
          <p:nvPr/>
        </p:nvSpPr>
        <p:spPr>
          <a:xfrm>
            <a:off x="7269480" y="2386584"/>
            <a:ext cx="4297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補多房間相機配對資料</a:t>
            </a:r>
            <a:endParaRPr lang="en-US" sz="1400" dirty="0"/>
          </a:p>
        </p:txBody>
      </p:sp>
      <p:sp>
        <p:nvSpPr>
          <p:cNvPr id="22" name="Text 19"/>
          <p:cNvSpPr/>
          <p:nvPr/>
        </p:nvSpPr>
        <p:spPr>
          <a:xfrm>
            <a:off x="7269480" y="2697480"/>
            <a:ext cx="4297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4A3B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姿態 PCK@20 由 3% → 35%+</a:t>
            </a:r>
            <a:endParaRPr lang="en-US" sz="1150" dirty="0"/>
          </a:p>
        </p:txBody>
      </p:sp>
      <p:sp>
        <p:nvSpPr>
          <p:cNvPr id="23" name="Shape 20"/>
          <p:cNvSpPr/>
          <p:nvPr/>
        </p:nvSpPr>
        <p:spPr>
          <a:xfrm>
            <a:off x="6675120" y="3383280"/>
            <a:ext cx="457200" cy="457200"/>
          </a:xfrm>
          <a:prstGeom prst="ellipse">
            <a:avLst/>
          </a:prstGeom>
          <a:solidFill>
            <a:srgbClr val="0EA5B5"/>
          </a:solidFill>
          <a:ln/>
        </p:spPr>
      </p:sp>
      <p:pic>
        <p:nvPicPr>
          <p:cNvPr id="2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93992" y="3502152"/>
            <a:ext cx="219456" cy="219456"/>
          </a:xfrm>
          <a:prstGeom prst="rect">
            <a:avLst/>
          </a:prstGeom>
        </p:spPr>
      </p:pic>
      <p:sp>
        <p:nvSpPr>
          <p:cNvPr id="25" name="Text 21"/>
          <p:cNvSpPr/>
          <p:nvPr/>
        </p:nvSpPr>
        <p:spPr>
          <a:xfrm>
            <a:off x="7269480" y="3346704"/>
            <a:ext cx="4297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MERIDIAN 跨環境泛化</a:t>
            </a:r>
            <a:endParaRPr lang="en-US" sz="1400" dirty="0"/>
          </a:p>
        </p:txBody>
      </p:sp>
      <p:sp>
        <p:nvSpPr>
          <p:cNvPr id="26" name="Text 22"/>
          <p:cNvSpPr/>
          <p:nvPr/>
        </p:nvSpPr>
        <p:spPr>
          <a:xfrm>
            <a:off x="7269480" y="3657600"/>
            <a:ext cx="4297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4A3B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縮小跨佈局落差</a:t>
            </a:r>
            <a:endParaRPr lang="en-US" sz="1150" dirty="0"/>
          </a:p>
        </p:txBody>
      </p:sp>
      <p:sp>
        <p:nvSpPr>
          <p:cNvPr id="27" name="Shape 23"/>
          <p:cNvSpPr/>
          <p:nvPr/>
        </p:nvSpPr>
        <p:spPr>
          <a:xfrm>
            <a:off x="6675120" y="4343400"/>
            <a:ext cx="457200" cy="457200"/>
          </a:xfrm>
          <a:prstGeom prst="ellipse">
            <a:avLst/>
          </a:prstGeom>
          <a:solidFill>
            <a:srgbClr val="0EA5B5"/>
          </a:solidFill>
          <a:ln/>
        </p:spPr>
      </p:sp>
      <p:pic>
        <p:nvPicPr>
          <p:cNvPr id="2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93992" y="4462272"/>
            <a:ext cx="219456" cy="219456"/>
          </a:xfrm>
          <a:prstGeom prst="rect">
            <a:avLst/>
          </a:prstGeom>
        </p:spPr>
      </p:pic>
      <p:sp>
        <p:nvSpPr>
          <p:cNvPr id="29" name="Text 24"/>
          <p:cNvSpPr/>
          <p:nvPr/>
        </p:nvSpPr>
        <p:spPr>
          <a:xfrm>
            <a:off x="7269480" y="4306824"/>
            <a:ext cx="4297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完成 HF 模型 live 載入</a:t>
            </a:r>
            <a:endParaRPr lang="en-US" sz="1400" dirty="0"/>
          </a:p>
        </p:txBody>
      </p:sp>
      <p:sp>
        <p:nvSpPr>
          <p:cNvPr id="30" name="Text 25"/>
          <p:cNvSpPr/>
          <p:nvPr/>
        </p:nvSpPr>
        <p:spPr>
          <a:xfrm>
            <a:off x="7269480" y="4617720"/>
            <a:ext cx="4297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4A3B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+ 樹莓派端推論優化</a:t>
            </a:r>
            <a:endParaRPr lang="en-US" sz="1150" dirty="0"/>
          </a:p>
        </p:txBody>
      </p:sp>
      <p:sp>
        <p:nvSpPr>
          <p:cNvPr id="31" name="Shape 26"/>
          <p:cNvSpPr/>
          <p:nvPr/>
        </p:nvSpPr>
        <p:spPr>
          <a:xfrm>
            <a:off x="548640" y="5577840"/>
            <a:ext cx="11094415" cy="777240"/>
          </a:xfrm>
          <a:prstGeom prst="roundRect">
            <a:avLst>
              <a:gd name="adj" fmla="val 11765"/>
            </a:avLst>
          </a:prstGeom>
          <a:solidFill>
            <a:srgbClr val="22D3EE"/>
          </a:solidFill>
          <a:ln/>
          <a:effectLst>
            <a:outerShdw sx="100000" sy="100000" kx="0" ky="0" algn="bl" rotWithShape="0" blurRad="88900" dist="38100" dir="8100000">
              <a:srgbClr val="0A1A2F">
                <a:alpha val="16000"/>
              </a:srgbClr>
            </a:outerShdw>
          </a:effectLst>
        </p:spPr>
      </p:sp>
      <p:sp>
        <p:nvSpPr>
          <p:cNvPr id="32" name="Text 27"/>
          <p:cNvSpPr/>
          <p:nvPr/>
        </p:nvSpPr>
        <p:spPr>
          <a:xfrm>
            <a:off x="548640" y="557784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0A1A2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讓「空間感知」變成一台樹莓派、隱私優先、隨處可部署的能力</a:t>
            </a:r>
            <a:endParaRPr lang="en-US" sz="17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20624"/>
            <a:ext cx="841248" cy="841248"/>
          </a:xfrm>
          <a:prstGeom prst="roundRect">
            <a:avLst>
              <a:gd name="adj" fmla="val 13043"/>
            </a:avLst>
          </a:prstGeom>
          <a:solidFill>
            <a:srgbClr val="22D3EE"/>
          </a:solidFill>
          <a:ln/>
          <a:effectLst>
            <a:outerShdw sx="100000" sy="100000" kx="0" ky="0" algn="bl" rotWithShape="0" blurRad="88900" dist="38100" dir="8100000">
              <a:srgbClr val="0A1A2F">
                <a:alpha val="16000"/>
              </a:srgbClr>
            </a:outerShdw>
          </a:effectLst>
        </p:spPr>
      </p:sp>
      <p:sp>
        <p:nvSpPr>
          <p:cNvPr id="3" name="Text 1"/>
          <p:cNvSpPr/>
          <p:nvPr/>
        </p:nvSpPr>
        <p:spPr>
          <a:xfrm>
            <a:off x="548640" y="420624"/>
            <a:ext cx="841248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A1A2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5.1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572768" y="402336"/>
            <a:ext cx="9997135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A1A2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參考文獻:推論源碼與測試資料集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48640" y="1572768"/>
            <a:ext cx="11094415" cy="713232"/>
          </a:xfrm>
          <a:prstGeom prst="roundRect">
            <a:avLst>
              <a:gd name="adj" fmla="val 8974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38100" dir="8100000">
              <a:srgbClr val="0A1A2F">
                <a:alpha val="16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31520" y="1719072"/>
            <a:ext cx="420624" cy="420624"/>
          </a:xfrm>
          <a:prstGeom prst="ellipse">
            <a:avLst/>
          </a:prstGeom>
          <a:solidFill>
            <a:srgbClr val="3B82F6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0882" y="1828434"/>
            <a:ext cx="201900" cy="20190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335024" y="1572768"/>
            <a:ext cx="20116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A1A2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主程式碼</a:t>
            </a:r>
            <a:endParaRPr lang="en-US" sz="1350" dirty="0"/>
          </a:p>
        </p:txBody>
      </p:sp>
      <p:sp>
        <p:nvSpPr>
          <p:cNvPr id="9" name="Text 6"/>
          <p:cNvSpPr/>
          <p:nvPr/>
        </p:nvSpPr>
        <p:spPr>
          <a:xfrm>
            <a:off x="3383280" y="1572768"/>
            <a:ext cx="807689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github.com/ruvnet/RuView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548640" y="2359152"/>
            <a:ext cx="11094415" cy="713232"/>
          </a:xfrm>
          <a:prstGeom prst="roundRect">
            <a:avLst>
              <a:gd name="adj" fmla="val 8974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38100" dir="8100000">
              <a:srgbClr val="0A1A2F">
                <a:alpha val="16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731520" y="2505456"/>
            <a:ext cx="420624" cy="420624"/>
          </a:xfrm>
          <a:prstGeom prst="ellipse">
            <a:avLst/>
          </a:prstGeom>
          <a:solidFill>
            <a:srgbClr val="0EA5B5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0882" y="2614818"/>
            <a:ext cx="201900" cy="20190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1335024" y="2359152"/>
            <a:ext cx="20116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A1A2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推論套件</a:t>
            </a:r>
            <a:endParaRPr lang="en-US" sz="1350" dirty="0"/>
          </a:p>
        </p:txBody>
      </p:sp>
      <p:sp>
        <p:nvSpPr>
          <p:cNvPr id="14" name="Text 10"/>
          <p:cNvSpPr/>
          <p:nvPr/>
        </p:nvSpPr>
        <p:spPr>
          <a:xfrm>
            <a:off x="3383280" y="2359152"/>
            <a:ext cx="807689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PyPI: ruview / wifi-densepose · crates.io: wifi-densepose-*</a:t>
            </a:r>
            <a:endParaRPr lang="en-US" sz="1200" dirty="0"/>
          </a:p>
        </p:txBody>
      </p:sp>
      <p:sp>
        <p:nvSpPr>
          <p:cNvPr id="15" name="Shape 11"/>
          <p:cNvSpPr/>
          <p:nvPr/>
        </p:nvSpPr>
        <p:spPr>
          <a:xfrm>
            <a:off x="548640" y="3145536"/>
            <a:ext cx="11094415" cy="713232"/>
          </a:xfrm>
          <a:prstGeom prst="roundRect">
            <a:avLst>
              <a:gd name="adj" fmla="val 8974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38100" dir="8100000">
              <a:srgbClr val="0A1A2F">
                <a:alpha val="16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731520" y="3291840"/>
            <a:ext cx="420624" cy="420624"/>
          </a:xfrm>
          <a:prstGeom prst="ellipse">
            <a:avLst/>
          </a:prstGeom>
          <a:solidFill>
            <a:srgbClr val="EF4444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0882" y="3401202"/>
            <a:ext cx="201900" cy="201900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1335024" y="3145536"/>
            <a:ext cx="20116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A1A2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套件 (npm)</a:t>
            </a:r>
            <a:endParaRPr lang="en-US" sz="1350" dirty="0"/>
          </a:p>
        </p:txBody>
      </p:sp>
      <p:sp>
        <p:nvSpPr>
          <p:cNvPr id="19" name="Text 14"/>
          <p:cNvSpPr/>
          <p:nvPr/>
        </p:nvSpPr>
        <p:spPr>
          <a:xfrm>
            <a:off x="3383280" y="3145536"/>
            <a:ext cx="807689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@ruvnet/rvagent (MCP) · @ruv/rvcsi</a:t>
            </a:r>
            <a:endParaRPr lang="en-US" sz="1200" dirty="0"/>
          </a:p>
        </p:txBody>
      </p:sp>
      <p:sp>
        <p:nvSpPr>
          <p:cNvPr id="20" name="Shape 15"/>
          <p:cNvSpPr/>
          <p:nvPr/>
        </p:nvSpPr>
        <p:spPr>
          <a:xfrm>
            <a:off x="548640" y="3931920"/>
            <a:ext cx="11094415" cy="713232"/>
          </a:xfrm>
          <a:prstGeom prst="roundRect">
            <a:avLst>
              <a:gd name="adj" fmla="val 8974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38100" dir="8100000">
              <a:srgbClr val="0A1A2F">
                <a:alpha val="16000"/>
              </a:srgbClr>
            </a:outerShdw>
          </a:effectLst>
        </p:spPr>
      </p:sp>
      <p:sp>
        <p:nvSpPr>
          <p:cNvPr id="21" name="Shape 16"/>
          <p:cNvSpPr/>
          <p:nvPr/>
        </p:nvSpPr>
        <p:spPr>
          <a:xfrm>
            <a:off x="731520" y="4078224"/>
            <a:ext cx="420624" cy="420624"/>
          </a:xfrm>
          <a:prstGeom prst="ellipse">
            <a:avLst/>
          </a:prstGeom>
          <a:solidFill>
            <a:srgbClr val="3B82F6"/>
          </a:solidFill>
          <a:ln/>
        </p:spPr>
      </p:sp>
      <p:pic>
        <p:nvPicPr>
          <p:cNvPr id="2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0882" y="4187586"/>
            <a:ext cx="201900" cy="201900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1335024" y="3931920"/>
            <a:ext cx="20116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A1A2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容器映像</a:t>
            </a:r>
            <a:endParaRPr lang="en-US" sz="1350" dirty="0"/>
          </a:p>
        </p:txBody>
      </p:sp>
      <p:sp>
        <p:nvSpPr>
          <p:cNvPr id="24" name="Text 18"/>
          <p:cNvSpPr/>
          <p:nvPr/>
        </p:nvSpPr>
        <p:spPr>
          <a:xfrm>
            <a:off x="3383280" y="3931920"/>
            <a:ext cx="807689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hub.docker.com/r/ruvnet/wifi-densepose</a:t>
            </a:r>
            <a:endParaRPr lang="en-US" sz="1200" dirty="0"/>
          </a:p>
        </p:txBody>
      </p:sp>
      <p:sp>
        <p:nvSpPr>
          <p:cNvPr id="25" name="Shape 19"/>
          <p:cNvSpPr/>
          <p:nvPr/>
        </p:nvSpPr>
        <p:spPr>
          <a:xfrm>
            <a:off x="548640" y="4718304"/>
            <a:ext cx="11094415" cy="713232"/>
          </a:xfrm>
          <a:prstGeom prst="roundRect">
            <a:avLst>
              <a:gd name="adj" fmla="val 8974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38100" dir="8100000">
              <a:srgbClr val="0A1A2F">
                <a:alpha val="16000"/>
              </a:srgbClr>
            </a:outerShdw>
          </a:effectLst>
        </p:spPr>
      </p:sp>
      <p:sp>
        <p:nvSpPr>
          <p:cNvPr id="26" name="Shape 20"/>
          <p:cNvSpPr/>
          <p:nvPr/>
        </p:nvSpPr>
        <p:spPr>
          <a:xfrm>
            <a:off x="731520" y="4864608"/>
            <a:ext cx="420624" cy="420624"/>
          </a:xfrm>
          <a:prstGeom prst="ellipse">
            <a:avLst/>
          </a:prstGeom>
          <a:solidFill>
            <a:srgbClr val="F59E0B"/>
          </a:solidFill>
          <a:ln/>
        </p:spPr>
      </p:sp>
      <p:pic>
        <p:nvPicPr>
          <p:cNvPr id="27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0882" y="4973970"/>
            <a:ext cx="201900" cy="201900"/>
          </a:xfrm>
          <a:prstGeom prst="rect">
            <a:avLst/>
          </a:prstGeom>
        </p:spPr>
      </p:pic>
      <p:sp>
        <p:nvSpPr>
          <p:cNvPr id="28" name="Text 21"/>
          <p:cNvSpPr/>
          <p:nvPr/>
        </p:nvSpPr>
        <p:spPr>
          <a:xfrm>
            <a:off x="1335024" y="4718304"/>
            <a:ext cx="20116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A1A2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預訓練模型</a:t>
            </a:r>
            <a:endParaRPr lang="en-US" sz="1350" dirty="0"/>
          </a:p>
        </p:txBody>
      </p:sp>
      <p:sp>
        <p:nvSpPr>
          <p:cNvPr id="29" name="Text 22"/>
          <p:cNvSpPr/>
          <p:nvPr/>
        </p:nvSpPr>
        <p:spPr>
          <a:xfrm>
            <a:off x="3383280" y="4718304"/>
            <a:ext cx="807689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huggingface.co/ruvnet/wifi-densepose-pretrained</a:t>
            </a:r>
            <a:endParaRPr lang="en-US" sz="1200" dirty="0"/>
          </a:p>
        </p:txBody>
      </p:sp>
      <p:sp>
        <p:nvSpPr>
          <p:cNvPr id="30" name="Shape 23"/>
          <p:cNvSpPr/>
          <p:nvPr/>
        </p:nvSpPr>
        <p:spPr>
          <a:xfrm>
            <a:off x="548640" y="5504688"/>
            <a:ext cx="11094415" cy="713232"/>
          </a:xfrm>
          <a:prstGeom prst="roundRect">
            <a:avLst>
              <a:gd name="adj" fmla="val 8974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38100" dir="8100000">
              <a:srgbClr val="0A1A2F">
                <a:alpha val="16000"/>
              </a:srgbClr>
            </a:outerShdw>
          </a:effectLst>
        </p:spPr>
      </p:sp>
      <p:sp>
        <p:nvSpPr>
          <p:cNvPr id="31" name="Shape 24"/>
          <p:cNvSpPr/>
          <p:nvPr/>
        </p:nvSpPr>
        <p:spPr>
          <a:xfrm>
            <a:off x="731520" y="5650992"/>
            <a:ext cx="420624" cy="420624"/>
          </a:xfrm>
          <a:prstGeom prst="ellipse">
            <a:avLst/>
          </a:prstGeom>
          <a:solidFill>
            <a:srgbClr val="8B5CF6"/>
          </a:solidFill>
          <a:ln/>
        </p:spPr>
      </p:sp>
      <p:pic>
        <p:nvPicPr>
          <p:cNvPr id="32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40882" y="5760354"/>
            <a:ext cx="201900" cy="201900"/>
          </a:xfrm>
          <a:prstGeom prst="rect">
            <a:avLst/>
          </a:prstGeom>
        </p:spPr>
      </p:pic>
      <p:sp>
        <p:nvSpPr>
          <p:cNvPr id="33" name="Text 25"/>
          <p:cNvSpPr/>
          <p:nvPr/>
        </p:nvSpPr>
        <p:spPr>
          <a:xfrm>
            <a:off x="1335024" y="5504688"/>
            <a:ext cx="20116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A1A2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測試資料集</a:t>
            </a:r>
            <a:endParaRPr lang="en-US" sz="1350" dirty="0"/>
          </a:p>
        </p:txBody>
      </p:sp>
      <p:sp>
        <p:nvSpPr>
          <p:cNvPr id="34" name="Text 26"/>
          <p:cNvSpPr/>
          <p:nvPr/>
        </p:nvSpPr>
        <p:spPr>
          <a:xfrm>
            <a:off x="3383280" y="5504688"/>
            <a:ext cx="807689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確定性 proof: archive/v1/data/proof/  ·  MM-Fi  ·  Wi-Pose</a:t>
            </a:r>
            <a:endParaRPr lang="en-US" sz="1200" dirty="0"/>
          </a:p>
        </p:txBody>
      </p:sp>
      <p:sp>
        <p:nvSpPr>
          <p:cNvPr id="35" name="Text 27"/>
          <p:cNvSpPr/>
          <p:nvPr/>
        </p:nvSpPr>
        <p:spPr>
          <a:xfrm>
            <a:off x="548640" y="6455664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RuView · WiFi-DensePose</a:t>
            </a:r>
            <a:endParaRPr lang="en-US" sz="900" dirty="0"/>
          </a:p>
        </p:txBody>
      </p:sp>
      <p:sp>
        <p:nvSpPr>
          <p:cNvPr id="36" name="Text 28"/>
          <p:cNvSpPr/>
          <p:nvPr/>
        </p:nvSpPr>
        <p:spPr>
          <a:xfrm>
            <a:off x="10271455" y="645566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14 / 17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20624"/>
            <a:ext cx="841248" cy="841248"/>
          </a:xfrm>
          <a:prstGeom prst="roundRect">
            <a:avLst>
              <a:gd name="adj" fmla="val 13043"/>
            </a:avLst>
          </a:prstGeom>
          <a:solidFill>
            <a:srgbClr val="22D3EE"/>
          </a:solidFill>
          <a:ln/>
          <a:effectLst>
            <a:outerShdw sx="100000" sy="100000" kx="0" ky="0" algn="bl" rotWithShape="0" blurRad="88900" dist="38100" dir="8100000">
              <a:srgbClr val="0A1A2F">
                <a:alpha val="16000"/>
              </a:srgbClr>
            </a:outerShdw>
          </a:effectLst>
        </p:spPr>
      </p:sp>
      <p:sp>
        <p:nvSpPr>
          <p:cNvPr id="3" name="Text 1"/>
          <p:cNvSpPr/>
          <p:nvPr/>
        </p:nvSpPr>
        <p:spPr>
          <a:xfrm>
            <a:off x="548640" y="420624"/>
            <a:ext cx="841248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A1A2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5.2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572768" y="402336"/>
            <a:ext cx="9997135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A1A2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參考文獻:公開文檔連結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48640" y="1600200"/>
            <a:ext cx="3515258" cy="4206240"/>
          </a:xfrm>
          <a:prstGeom prst="roundRect">
            <a:avLst>
              <a:gd name="adj" fmla="val 2601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38100" dir="8100000">
              <a:srgbClr val="0A1A2F">
                <a:alpha val="16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48640" y="1600200"/>
            <a:ext cx="3515258" cy="91440"/>
          </a:xfrm>
          <a:prstGeom prst="rect">
            <a:avLst/>
          </a:prstGeom>
          <a:solidFill>
            <a:srgbClr val="22D3EE"/>
          </a:solidFill>
          <a:ln/>
        </p:spPr>
      </p:sp>
      <p:sp>
        <p:nvSpPr>
          <p:cNvPr id="7" name="Shape 5"/>
          <p:cNvSpPr/>
          <p:nvPr/>
        </p:nvSpPr>
        <p:spPr>
          <a:xfrm>
            <a:off x="1940509" y="1874520"/>
            <a:ext cx="731520" cy="731520"/>
          </a:xfrm>
          <a:prstGeom prst="ellipse">
            <a:avLst/>
          </a:prstGeom>
          <a:solidFill>
            <a:srgbClr val="22D3EE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130704" y="2064715"/>
            <a:ext cx="351130" cy="35113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640080" y="2724912"/>
            <a:ext cx="333237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50" b="1" dirty="0">
                <a:solidFill>
                  <a:srgbClr val="0A1A2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核心使用文檔</a:t>
            </a:r>
            <a:endParaRPr lang="en-US" sz="1550" dirty="0"/>
          </a:p>
        </p:txBody>
      </p:sp>
      <p:sp>
        <p:nvSpPr>
          <p:cNvPr id="10" name="Text 7"/>
          <p:cNvSpPr/>
          <p:nvPr/>
        </p:nvSpPr>
        <p:spPr>
          <a:xfrm>
            <a:off x="841248" y="3246120"/>
            <a:ext cx="2966618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User Guide / Build Guide / Troubleshooting</a:t>
            </a:r>
            <a:endParaRPr lang="en-US" sz="12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WiFi-Mat 災難搜救指南</a:t>
            </a:r>
            <a:endParaRPr lang="en-US" sz="12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Extended Documentation(訊號/訓練/CLI/部署)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4338218" y="1600200"/>
            <a:ext cx="3515258" cy="4206240"/>
          </a:xfrm>
          <a:prstGeom prst="roundRect">
            <a:avLst>
              <a:gd name="adj" fmla="val 2601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38100" dir="8100000">
              <a:srgbClr val="0A1A2F">
                <a:alpha val="16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4338218" y="1600200"/>
            <a:ext cx="3515258" cy="91440"/>
          </a:xfrm>
          <a:prstGeom prst="rect">
            <a:avLst/>
          </a:prstGeom>
          <a:solidFill>
            <a:srgbClr val="0EA5B5"/>
          </a:solidFill>
          <a:ln/>
        </p:spPr>
      </p:sp>
      <p:sp>
        <p:nvSpPr>
          <p:cNvPr id="13" name="Shape 10"/>
          <p:cNvSpPr/>
          <p:nvPr/>
        </p:nvSpPr>
        <p:spPr>
          <a:xfrm>
            <a:off x="5730088" y="1874520"/>
            <a:ext cx="731520" cy="731520"/>
          </a:xfrm>
          <a:prstGeom prst="ellipse">
            <a:avLst/>
          </a:prstGeom>
          <a:solidFill>
            <a:srgbClr val="0EA5B5"/>
          </a:solidFill>
          <a:ln/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20283" y="2064715"/>
            <a:ext cx="351130" cy="351130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4429658" y="2724912"/>
            <a:ext cx="333237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50" b="1" dirty="0">
                <a:solidFill>
                  <a:srgbClr val="0A1A2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架構文檔</a:t>
            </a:r>
            <a:endParaRPr lang="en-US" sz="1550" dirty="0"/>
          </a:p>
        </p:txBody>
      </p:sp>
      <p:sp>
        <p:nvSpPr>
          <p:cNvPr id="16" name="Text 12"/>
          <p:cNvSpPr/>
          <p:nvPr/>
        </p:nvSpPr>
        <p:spPr>
          <a:xfrm>
            <a:off x="4630826" y="3246120"/>
            <a:ext cx="2966618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96 份 ADR(架構決策記錄)</a:t>
            </a:r>
            <a:endParaRPr lang="en-US" sz="12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8 個 DDD 領域模型</a:t>
            </a:r>
            <a:endParaRPr lang="en-US" sz="12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BFLD 研究 dossier(11 份)</a:t>
            </a:r>
            <a:endParaRPr lang="en-US" sz="1200" dirty="0"/>
          </a:p>
        </p:txBody>
      </p:sp>
      <p:sp>
        <p:nvSpPr>
          <p:cNvPr id="17" name="Shape 13"/>
          <p:cNvSpPr/>
          <p:nvPr/>
        </p:nvSpPr>
        <p:spPr>
          <a:xfrm>
            <a:off x="8127797" y="1600200"/>
            <a:ext cx="3515258" cy="4206240"/>
          </a:xfrm>
          <a:prstGeom prst="roundRect">
            <a:avLst>
              <a:gd name="adj" fmla="val 2601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38100" dir="8100000">
              <a:srgbClr val="0A1A2F">
                <a:alpha val="16000"/>
              </a:srgbClr>
            </a:outerShdw>
          </a:effectLst>
        </p:spPr>
      </p:sp>
      <p:sp>
        <p:nvSpPr>
          <p:cNvPr id="18" name="Shape 14"/>
          <p:cNvSpPr/>
          <p:nvPr/>
        </p:nvSpPr>
        <p:spPr>
          <a:xfrm>
            <a:off x="8127797" y="1600200"/>
            <a:ext cx="3515258" cy="9144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19" name="Shape 15"/>
          <p:cNvSpPr/>
          <p:nvPr/>
        </p:nvSpPr>
        <p:spPr>
          <a:xfrm>
            <a:off x="9519666" y="1874520"/>
            <a:ext cx="731520" cy="731520"/>
          </a:xfrm>
          <a:prstGeom prst="ellipse">
            <a:avLst/>
          </a:prstGeom>
          <a:solidFill>
            <a:srgbClr val="3B82F6"/>
          </a:solidFill>
          <a:ln/>
        </p:spPr>
      </p:sp>
      <p:pic>
        <p:nvPicPr>
          <p:cNvPr id="2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09861" y="2064715"/>
            <a:ext cx="351130" cy="351130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8219237" y="2724912"/>
            <a:ext cx="333237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50" b="1" dirty="0">
                <a:solidFill>
                  <a:srgbClr val="0A1A2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線上 Demo / 整合</a:t>
            </a:r>
            <a:endParaRPr lang="en-US" sz="1550" dirty="0"/>
          </a:p>
        </p:txBody>
      </p:sp>
      <p:sp>
        <p:nvSpPr>
          <p:cNvPr id="22" name="Text 17"/>
          <p:cNvSpPr/>
          <p:nvPr/>
        </p:nvSpPr>
        <p:spPr>
          <a:xfrm>
            <a:off x="8420405" y="3246120"/>
            <a:ext cx="2966618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ruvnet.github.io/RuView/(4 個 Demo)</a:t>
            </a:r>
            <a:endParaRPr lang="en-US" sz="12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Home Assistant + Matter 整合</a:t>
            </a:r>
            <a:endParaRPr lang="en-US" sz="12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Cognitum Seed · Docker Hub</a:t>
            </a:r>
            <a:endParaRPr lang="en-US" sz="1200" dirty="0"/>
          </a:p>
        </p:txBody>
      </p:sp>
      <p:sp>
        <p:nvSpPr>
          <p:cNvPr id="23" name="Text 18"/>
          <p:cNvSpPr/>
          <p:nvPr/>
        </p:nvSpPr>
        <p:spPr>
          <a:xfrm>
            <a:off x="548640" y="6455664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RuView · WiFi-DensePose</a:t>
            </a:r>
            <a:endParaRPr lang="en-US" sz="900" dirty="0"/>
          </a:p>
        </p:txBody>
      </p:sp>
      <p:sp>
        <p:nvSpPr>
          <p:cNvPr id="24" name="Text 19"/>
          <p:cNvSpPr/>
          <p:nvPr/>
        </p:nvSpPr>
        <p:spPr>
          <a:xfrm>
            <a:off x="10271455" y="645566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15 / 17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20624"/>
            <a:ext cx="841248" cy="841248"/>
          </a:xfrm>
          <a:prstGeom prst="roundRect">
            <a:avLst>
              <a:gd name="adj" fmla="val 13043"/>
            </a:avLst>
          </a:prstGeom>
          <a:solidFill>
            <a:srgbClr val="22D3EE"/>
          </a:solidFill>
          <a:ln/>
          <a:effectLst>
            <a:outerShdw sx="100000" sy="100000" kx="0" ky="0" algn="bl" rotWithShape="0" blurRad="88900" dist="38100" dir="8100000">
              <a:srgbClr val="0A1A2F">
                <a:alpha val="16000"/>
              </a:srgbClr>
            </a:outerShdw>
          </a:effectLst>
        </p:spPr>
      </p:sp>
      <p:sp>
        <p:nvSpPr>
          <p:cNvPr id="3" name="Text 1"/>
          <p:cNvSpPr/>
          <p:nvPr/>
        </p:nvSpPr>
        <p:spPr>
          <a:xfrm>
            <a:off x="548640" y="420624"/>
            <a:ext cx="841248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A1A2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5.3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572768" y="402336"/>
            <a:ext cx="9997135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A1A2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參考文獻:相關論文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48640" y="1554480"/>
            <a:ext cx="11094415" cy="1417320"/>
          </a:xfrm>
          <a:prstGeom prst="roundRect">
            <a:avLst>
              <a:gd name="adj" fmla="val 5161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38100" dir="8100000">
              <a:srgbClr val="0A1A2F">
                <a:alpha val="16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48640" y="1554480"/>
            <a:ext cx="91440" cy="1417320"/>
          </a:xfrm>
          <a:prstGeom prst="rect">
            <a:avLst/>
          </a:prstGeom>
          <a:solidFill>
            <a:srgbClr val="22D3EE"/>
          </a:solidFill>
          <a:ln/>
        </p:spPr>
      </p:sp>
      <p:sp>
        <p:nvSpPr>
          <p:cNvPr id="7" name="Text 5"/>
          <p:cNvSpPr/>
          <p:nvPr/>
        </p:nvSpPr>
        <p:spPr>
          <a:xfrm>
            <a:off x="841248" y="1664208"/>
            <a:ext cx="27432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749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核心 / 基礎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3291840" y="1700784"/>
            <a:ext cx="816833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E293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DensePose From WiFi (CMU)</a:t>
            </a:r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arXiv:2301.00250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3291840" y="2084832"/>
            <a:ext cx="816833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E293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MM-Fi (NeurIPS 2023)</a:t>
            </a:r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arXiv:2305.10345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3291840" y="2468880"/>
            <a:ext cx="816833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E293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Person-in-WiFi 3D (CVPR 2024)</a:t>
            </a:r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—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548640" y="3081528"/>
            <a:ext cx="11094415" cy="1417320"/>
          </a:xfrm>
          <a:prstGeom prst="roundRect">
            <a:avLst>
              <a:gd name="adj" fmla="val 5161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38100" dir="8100000">
              <a:srgbClr val="0A1A2F">
                <a:alpha val="16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548640" y="3081528"/>
            <a:ext cx="91440" cy="1417320"/>
          </a:xfrm>
          <a:prstGeom prst="rect">
            <a:avLst/>
          </a:prstGeom>
          <a:solidFill>
            <a:srgbClr val="0EA5B5"/>
          </a:solidFill>
          <a:ln/>
        </p:spPr>
      </p:sp>
      <p:sp>
        <p:nvSpPr>
          <p:cNvPr id="13" name="Text 11"/>
          <p:cNvSpPr/>
          <p:nvPr/>
        </p:nvSpPr>
        <p:spPr>
          <a:xfrm>
            <a:off x="841248" y="3191256"/>
            <a:ext cx="27432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A5B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訊號處理方法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3291840" y="3227832"/>
            <a:ext cx="816833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E293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SpotFi — 相位校正 / 定位</a:t>
            </a:r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SIGCOMM 2015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3291840" y="3611880"/>
            <a:ext cx="816833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E293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FarSense — Fresnel 呼吸模型</a:t>
            </a:r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MobiCom 2019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3291840" y="3995928"/>
            <a:ext cx="816833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E293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Widar 3.0 — 身體速度分布</a:t>
            </a:r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MobiSys 2019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548640" y="4608576"/>
            <a:ext cx="11094415" cy="1417320"/>
          </a:xfrm>
          <a:prstGeom prst="roundRect">
            <a:avLst>
              <a:gd name="adj" fmla="val 5161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38100" dir="8100000">
              <a:srgbClr val="0A1A2F">
                <a:alpha val="16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548640" y="4608576"/>
            <a:ext cx="91440" cy="141732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19" name="Text 17"/>
          <p:cNvSpPr/>
          <p:nvPr/>
        </p:nvSpPr>
        <p:spPr>
          <a:xfrm>
            <a:off x="841248" y="4718304"/>
            <a:ext cx="27432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B82F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學習方法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3291840" y="4754880"/>
            <a:ext cx="816833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E293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SimCLR / VICReg — 對比學習</a:t>
            </a:r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2002.05709 / 2105.04906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3291840" y="5138928"/>
            <a:ext cx="816833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E293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LoRA — 環境適應微調</a:t>
            </a:r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arXiv:2106.09685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3291840" y="5522976"/>
            <a:ext cx="816833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E293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EWC / HNSW — 防遺忘 / 搜尋</a:t>
            </a:r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1612.00796 / 1603.09320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548640" y="6455664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RuView · WiFi-DensePose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10271455" y="645566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16 / 17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RuView — WiFi-DensePose 專題簡報</dc:title>
  <dc:subject>PptxGenJS Presentation</dc:subject>
  <dc:creator>RuView</dc:creator>
  <cp:lastModifiedBy>RuView</cp:lastModifiedBy>
  <cp:revision>1</cp:revision>
  <dcterms:created xsi:type="dcterms:W3CDTF">2026-06-07T05:20:12Z</dcterms:created>
  <dcterms:modified xsi:type="dcterms:W3CDTF">2026-06-07T05:20:12Z</dcterms:modified>
</cp:coreProperties>
</file>